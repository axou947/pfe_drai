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ORATEUR : Axel — durée cible : 15 s</a:t>
            </a:r>
          </a:p>
          <a:p/>
          <a:p>
            <a:r>
              <a:t>Bonjour à tous. Nous sommes le groupe 1 : Robin, Gabriel, Amine, Titouan et moi-même, Axel. Notre projet : un outil qui détecte par IA dans quel régime se trouvent les marchés financiers, pour aider les petits gérants à réduire leur risque plus tôt. En dix minutes : le contexte, le besoin, l'état de l'art, la solution choisie et les risques qui pourraient la faire dérailler.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ORATEUR : Titouan — durée cible : 45 s</a:t>
            </a:r>
          </a:p>
          <a:p/>
          <a:p>
            <a:r>
              <a:t>Depuis 2009, notre règle de datation a identifié onze épisodes de stress sur le marché américain : la dette européenne en 2011, l'été 2015, fin 2018, le Covid, l'inflation en 2022, les droits de douane en 2025. À gauche, la baisse maximale à chaque fois : de moins 10 à moins 34 %. Le problème n'est pas que ces crises arrivent, c'est qu'on y réagit tard. À droite, ce que nous ont dit les gérants interrogés : entre 9 et 19 jours de bourse pour réduire leur exposition. Or quelques jours suffisent pour subir l'essentiel de la baisse. Notre objectif : moins de 5 jours.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ORATEUR : Amine — durée cible : 50 s</a:t>
            </a:r>
          </a:p>
          <a:p/>
          <a:p>
            <a:r>
              <a:t>D'où notre problème : les gérants de petites structures, sans équipe quantitative, repèrent trop tard l'entrée en stress et peinent à justifier ensuite leurs décisions. Notre question directrice est mesurable : 5 jours de latence au plus, 1,5 fausse alerte par an au plus, et un signal expliqué. En bas, ce que donne déjà notre backtest sur données réelles 2009-2026 : latence médiane de moins 3 jours, 1,26 fausse alerte par an, une probabilité calibrée. Attention : c'est un backtest sur des crises que nous connaissions. La vraie preuve, c'est le suivi en direct, on y revient.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ORATEUR : Robin — durée cible : 50 s</a:t>
            </a:r>
          </a:p>
          <a:p/>
          <a:p>
            <a:r>
              <a:t>Notre cible, c'est Claire : gérante multi-actifs dans une société de gestion de 15 personnes, 400 millions d'encours, comité mensuel, pas de quant en interne. Pour vérifier qu'elle existe vraiment, nous avons mené 13 entretiens de 20 minutes. 9 sur 13 confirment pleinement la douleur « décider trop tard et devoir justifier », et 10 sur 13 préfèrent un rapport expliqué à un simple score. En revanche, le prix est notre hypothèse la plus fragile : seuls 4 la valident pleinement. 6 professionnels sont prêts à tester le prototype, 2 prêts à payer.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ORATEUR : Robin — durée cible : 30 s</a:t>
            </a:r>
          </a:p>
          <a:p/>
          <a:p>
            <a:r>
              <a:t>Nous avons complété par un questionnaire en ligne : 54 réponses. Trois douleurs ressortent nettement : consolider des signaux dispersés, justifier une décision, réagir tôt. Et sur le format, le message est clair : la note de comité en PDF arrive en tête, loin devant le tableau de bord.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ORATEUR : Gabriel — durée cible : 50 s</a:t>
            </a:r>
          </a:p>
          <a:p/>
          <a:p>
            <a:r>
              <a:t>Nous avons comparé les familles de méthodes. Les modèles de Markov cachés sont la référence depuis Hamilton en 1989, mais ils changent d'état trop souvent. Le clustering est simple mais n'a aucune notion de temps. Le deep learning demande beaucoup de données, alors qu'on a une dizaine de crises en vingt ans. La méthode qui sort du lot, c'est le Statistical Jump Model, de Nystrup puis Shu et Mulvey en 2024 : il pénalise chaque changement de régime, ce qui donne des régimes stables. Notre leçon : les algorithmes sont publics, ce n'est pas la méthode qui fait la différence, c'est la preuve.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ORATEUR : Gabriel — durée cible : 30 s</a:t>
            </a:r>
          </a:p>
          <a:p/>
          <a:p>
            <a:r>
              <a:t>Côté marché : à droite, les fournisseurs de données institutionnels — JPMaQS, RavenPack, Permutable — sur devis, pour les hedge funds. À gauche, des outils gratuits qui donnent un score brut. Personne ne propose un régime expliqué, avec une latence publiée et un historique vérifiable, pour les petits gérants européens. C'est notre espace, avec un marché adressable estimé autour de 22 millions d'euros par 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ORATEUR : Titouan — durée cible : 55 s</a:t>
            </a:r>
          </a:p>
          <a:p/>
          <a:p>
            <a:r>
              <a:t>Notre solution, en deux phrases : chaque soir, l'outil indique dans quel climat se trouvent les marchés — Expansion, Surchauffe, Ralentissement ou Stress — avec une probabilité calibrée et ses raisons. Il produit une note pour le comité des risques et publie un historique que personne ne peut retoucher. Voici la vraie page publique : depuis le 1er octobre, 14 jours publiés, chacun chaîné au précédent et horodaté dans la blockchain Bitcoin, sur quatre zones. Depuis le J1, nos choix ont évolué : trois dimensions au lieu de deux, un détecteur de stress refondu, un suivi en direct lancé un mois plus tôt que prévu. Ce qui reste le plus risqué : que ça tienne en réel, et qu'un gérant change vraiment sa décision grâce à la note.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ORATEUR : Amine — durée cible : 60 s</a:t>
            </a:r>
          </a:p>
          <a:p/>
          <a:p>
            <a:r>
              <a:t>Voici notre MoSCoW, avec l'état au 21 octobre. Les Must sont presque tous faits : données datées sans information future, régimes, détecteur, probabilité calibrée, explication, note de comité, suivi public. Il en reste un, le plus important : les tests avec au moins trois gérants. En Should, nos chantiers de Phase 3 : un régime Ralentissement fiable, l'overlay de risque promis au J1, et la couche actualité. Nous assumons aussi un écart : des Could comme la carte mondiale ont été construits avant ces Should ; nous gelons maintenant les nouvelles fonctionnalités. Et ce que nous ne ferons pas : aucun signal d'achat ou de vente, ce serait du conseil en investissement ; pas de deep learning ; pas de temps réel.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ORATEUR : Axel — durée cible : 45 s</a:t>
            </a:r>
          </a:p>
          <a:p/>
          <a:p>
            <a:r>
              <a:t>L'architecture. Des sources gratuites : FRED et ALFRED, qui donnent chaque chiffre macro tel qu'il a été publié ce jour-là, et Tiingo pour les prix. Douze indicateurs résumés en trois scores : stress, croissance, inflation. Le Statistical Jump Model nomme les régimes ; un détecteur dédié repère le début du stress ; la probabilité est ensuite calibrée. Tout est validé en walk-forward, et chaque protocole est publié avant le calcul sur données réelles. Chaque soir à 22 h 30, un job GitHub Actions publie le résultat, la note, l'application et l'API.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ORATEUR : Axel — durée cible : 55 s</a:t>
            </a:r>
          </a:p>
          <a:p/>
          <a:p>
            <a:r>
              <a:t>Notre choix le plus structurant, documenté par cet arbre. Notre première version ne détectait que 5 crises sur 11. Nous avons pré-enregistré un protocole avant de toucher aux données réelles, avec cinq candidats. Premier filtre, sur une période test de 1999 à 2009 jamais utilisée : pas plus de 1,5 fausse alerte par an. Tous passent. Deuxième filtre : latence médiane de 5 jours au plus. L'ancienne version et les deux régressions logistiques tombent, à 41 et 60 jours. Les deux boostings sont à égalité : la règle écrite à l'avance prend le premier. Résultat, en un seul passage sur les onze crises réelles : onze sur onze, latence médiane de moins 3 jours. Le compromis assumé : 1,26 fausse alerte par an au lieu de 0,17.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ORATEUR : Gabriel — durée cible : 25 s</a:t>
            </a:r>
          </a:p>
          <a:p/>
          <a:p>
            <a:r>
              <a:t>Même démarche pour les données. Bloomberg est hors budget. Les spreads de crédit ICE et le S&amp;P 500 sur FRED ne peuvent pas être republiés. Yahoo Finance est réservé à la recherche. Nous retenons FRED et ALFRED pour la macro, et Tiingo pour les ETF, avec la licence notée série par série. Les arbres sur le modèle des régimes et sur la publication sont en annexe.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ORATEUR : Robin — durée cible : 60 s</a:t>
            </a:r>
          </a:p>
          <a:p/>
          <a:p>
            <a:r>
              <a:t>Les risques, identifiés avec la méthode TELOS. Nous en suivons sept ; voici les trois majeurs. R1, externe, le plus critique : nous n'avons encore fait aucun test utilisateur. Les sessions sont planifiées dès le 9 novembre, avec un protocole asynchrone de 10 minutes en secours. R2, technique : en réel, les fausses alertes pourraient dépasser 1,5 par an. Nous ne retoucherons pas le modèle après coup ; des variantes sont publiées en direct à côté, et le plan B est écrit : revenir à l'ancienne version, plus lente mais plus sobre. R3, organisationnel : le code a été écrit en grande partie avec un assistant IA et par deux personnes. Chaque membre devient propriétaire d'un module et doit pouvoir le défendre.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ORATEUR : Titouan — durée cible : 30 s</a:t>
            </a:r>
          </a:p>
          <a:p/>
          <a:p>
            <a:r>
              <a:t>Pour la Phase 3 : gel des nouvelles fonctionnalités, tests utilisateurs du 9 au 20 novembre, nouvelle version du Ralentissement avec un go/no-go le 13, overlay de risque et couche actualité en parallèle. En résumé : un besoin confirmé, des choix tracés et pré-enregistrés, et un plan B pour chaque risque majeur. Nous attendons vos retours sur deux points : une fausse alerte par an est-elle acceptable pour un gérant, et notre protocole de test utilisateur est-il assez exigeant ? Merci, place à vos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Rester sur cette slide pendant les questions. Aller chercher l'annexe utile seulement si la question le demande (taper le numéro de la slide puis Entrée en mode diaporama).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montrer seulement si : Question sur la latence, sur « −3 jours » ou sur l'ancienne version.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montrer seulement si : Question « pourquoi pas un HMM / du deep learning ?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montrer seulement si : Question sur l'horodatage, la blockchain ou l'hébergement.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montrer seulement si : Question « où est l'IA sur les news ?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montrer seulement si : Question sur le marché ou le modèle économique.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montrer seulement si : Question sur le prix ou la disposition à payer.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montrer seulement si : Question sur un risque non présenté (R4 à R7).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montrer seulement si : Question « comment savez-vous que ça marche ? ».</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montrer seulement si : Question sur le budget ou le matériel.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montrer seulement si : Question « où en est le code ?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7315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80160"/>
            <a:ext cx="10515600" cy="1280160"/>
          </a:xfrm>
          <a:prstGeom prst="rect">
            <a:avLst/>
          </a:prstGeom>
          <a:noFill/>
        </p:spPr>
        <p:txBody>
          <a:bodyPr wrap="square" anchor="t" lIns="45720" rIns="45720">
            <a:spAutoFit/>
          </a:bodyPr>
          <a:lstStyle/>
          <a:p>
            <a:pPr algn="l">
              <a:spcAft>
                <a:spcPts val="600"/>
              </a:spcAft>
            </a:pPr>
            <a:r>
              <a:rPr sz="4400" b="1">
                <a:solidFill>
                  <a:srgbClr val="FFFFFF"/>
                </a:solidFill>
                <a:latin typeface="Calibri"/>
              </a:rPr>
              <a:t>Détection de régimes de marché par IA</a:t>
            </a:r>
          </a:p>
        </p:txBody>
      </p:sp>
      <p:sp>
        <p:nvSpPr>
          <p:cNvPr id="5" name="TextBox 4"/>
          <p:cNvSpPr txBox="1"/>
          <p:nvPr/>
        </p:nvSpPr>
        <p:spPr>
          <a:xfrm>
            <a:off x="731520" y="2514600"/>
            <a:ext cx="10515600" cy="1280160"/>
          </a:xfrm>
          <a:prstGeom prst="rect">
            <a:avLst/>
          </a:prstGeom>
          <a:noFill/>
        </p:spPr>
        <p:txBody>
          <a:bodyPr wrap="square" anchor="t" lIns="45720" rIns="45720">
            <a:spAutoFit/>
          </a:bodyPr>
          <a:lstStyle/>
          <a:p>
            <a:pPr algn="l">
              <a:spcAft>
                <a:spcPts val="600"/>
              </a:spcAft>
            </a:pPr>
            <a:r>
              <a:rPr sz="2200" b="0">
                <a:solidFill>
                  <a:srgbClr val="E9C46A"/>
                </a:solidFill>
                <a:latin typeface="Calibri"/>
              </a:rPr>
              <a:t>Aider les petits gérants européens à réduire le risque plus tôt — et à le justifier</a:t>
            </a:r>
          </a:p>
        </p:txBody>
      </p:sp>
      <p:sp>
        <p:nvSpPr>
          <p:cNvPr id="6" name="TextBox 5"/>
          <p:cNvSpPr txBox="1"/>
          <p:nvPr/>
        </p:nvSpPr>
        <p:spPr>
          <a:xfrm>
            <a:off x="731520" y="3429000"/>
            <a:ext cx="10515600" cy="548640"/>
          </a:xfrm>
          <a:prstGeom prst="rect">
            <a:avLst/>
          </a:prstGeom>
          <a:noFill/>
        </p:spPr>
        <p:txBody>
          <a:bodyPr wrap="square" anchor="t" lIns="45720" rIns="45720">
            <a:spAutoFit/>
          </a:bodyPr>
          <a:lstStyle/>
          <a:p>
            <a:pPr algn="l">
              <a:spcAft>
                <a:spcPts val="600"/>
              </a:spcAft>
            </a:pPr>
            <a:r>
              <a:rPr sz="1600" b="0">
                <a:solidFill>
                  <a:srgbClr val="FFFFFF"/>
                </a:solidFill>
                <a:latin typeface="Calibri"/>
              </a:rPr>
              <a:t>Soutenance intermédiaire — Jalon 2 · Conception de la solution</a:t>
            </a:r>
          </a:p>
        </p:txBody>
      </p:sp>
      <p:sp>
        <p:nvSpPr>
          <p:cNvPr id="7" name="TextBox 6"/>
          <p:cNvSpPr txBox="1"/>
          <p:nvPr/>
        </p:nvSpPr>
        <p:spPr>
          <a:xfrm>
            <a:off x="731520" y="4480560"/>
            <a:ext cx="10515600" cy="1280160"/>
          </a:xfrm>
          <a:prstGeom prst="rect">
            <a:avLst/>
          </a:prstGeom>
          <a:noFill/>
        </p:spPr>
        <p:txBody>
          <a:bodyPr wrap="square" anchor="t" lIns="45720" rIns="45720">
            <a:spAutoFit/>
          </a:bodyPr>
          <a:lstStyle/>
          <a:p>
            <a:pPr algn="l">
              <a:spcAft>
                <a:spcPts val="600"/>
              </a:spcAft>
            </a:pPr>
            <a:r>
              <a:rPr sz="1500" b="0">
                <a:solidFill>
                  <a:srgbClr val="FFFFFF"/>
                </a:solidFill>
                <a:latin typeface="Calibri"/>
              </a:rPr>
              <a:t>Groupe 1 — #PFE27-P-3549</a:t>
            </a:r>
          </a:p>
          <a:p>
            <a:pPr algn="l">
              <a:spcAft>
                <a:spcPts val="600"/>
              </a:spcAft>
            </a:pPr>
            <a:r>
              <a:rPr sz="1500" b="0">
                <a:solidFill>
                  <a:srgbClr val="FFFFFF"/>
                </a:solidFill>
                <a:latin typeface="Calibri"/>
              </a:rPr>
              <a:t>Robin Lamy · Gabriel Maisonnave · Amine Amerdal · Titouan Andre · Axel Alacache</a:t>
            </a:r>
          </a:p>
          <a:p>
            <a:pPr algn="l">
              <a:spcAft>
                <a:spcPts val="600"/>
              </a:spcAft>
            </a:pPr>
            <a:r>
              <a:rPr sz="1500" b="0">
                <a:solidFill>
                  <a:srgbClr val="FFFFFF"/>
                </a:solidFill>
                <a:latin typeface="Calibri"/>
              </a:rPr>
              <a:t>Coach : Francesco Pandolfi · ECE Paris ING5 · 2026-2027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Contexte : les crises arrivent, les gérants réagissent trop tard</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2</a:t>
            </a:r>
          </a:p>
        </p:txBody>
      </p:sp>
      <p:sp>
        <p:nvSpPr>
          <p:cNvPr id="7" name="Rounded Rectangle 6"/>
          <p:cNvSpPr/>
          <p:nvPr/>
        </p:nvSpPr>
        <p:spPr>
          <a:xfrm>
            <a:off x="10561320" y="256032"/>
            <a:ext cx="1463040" cy="384048"/>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Titouan · 45s</a:t>
            </a:r>
          </a:p>
        </p:txBody>
      </p:sp>
      <p:pic>
        <p:nvPicPr>
          <p:cNvPr id="8" name="Picture 7" descr="01_contexte.png"/>
          <p:cNvPicPr>
            <a:picLocks noChangeAspect="1"/>
          </p:cNvPicPr>
          <p:nvPr/>
        </p:nvPicPr>
        <p:blipFill>
          <a:blip r:embed="rId2"/>
          <a:stretch>
            <a:fillRect/>
          </a:stretch>
        </p:blipFill>
        <p:spPr>
          <a:xfrm>
            <a:off x="320040" y="2280616"/>
            <a:ext cx="7863840" cy="2845408"/>
          </a:xfrm>
          <a:prstGeom prst="rect">
            <a:avLst/>
          </a:prstGeom>
        </p:spPr>
      </p:pic>
      <p:sp>
        <p:nvSpPr>
          <p:cNvPr id="9" name="Rectangle 8"/>
          <p:cNvSpPr/>
          <p:nvPr/>
        </p:nvSpPr>
        <p:spPr>
          <a:xfrm>
            <a:off x="8366760" y="1325880"/>
            <a:ext cx="3520440" cy="475488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66760" y="1325880"/>
            <a:ext cx="73152" cy="475488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0" y="1508760"/>
            <a:ext cx="3154680" cy="4480560"/>
          </a:xfrm>
          <a:prstGeom prst="rect">
            <a:avLst/>
          </a:prstGeom>
          <a:noFill/>
        </p:spPr>
        <p:txBody>
          <a:bodyPr wrap="square" anchor="t" lIns="45720" rIns="45720">
            <a:spAutoFit/>
          </a:bodyPr>
          <a:lstStyle/>
          <a:p>
            <a:pPr algn="l">
              <a:spcAft>
                <a:spcPts val="1000"/>
              </a:spcAft>
            </a:pPr>
            <a:r>
              <a:rPr sz="1500" b="0">
                <a:solidFill>
                  <a:srgbClr val="111827"/>
                </a:solidFill>
                <a:latin typeface="Calibri"/>
              </a:rPr>
              <a:t>• 11 épisodes de stress réels depuis 2009 : de −10 % à −34 %</a:t>
            </a:r>
          </a:p>
          <a:p>
            <a:pPr algn="l">
              <a:spcAft>
                <a:spcPts val="1000"/>
              </a:spcAft>
            </a:pPr>
            <a:r>
              <a:rPr sz="1500" b="0">
                <a:solidFill>
                  <a:srgbClr val="111827"/>
                </a:solidFill>
                <a:latin typeface="Calibri"/>
              </a:rPr>
              <a:t>• Délai de réaction déclaré par les gérants : 9 à 19 jours</a:t>
            </a:r>
          </a:p>
          <a:p>
            <a:pPr algn="l">
              <a:spcAft>
                <a:spcPts val="1000"/>
              </a:spcAft>
            </a:pPr>
            <a:r>
              <a:rPr sz="1500" b="0">
                <a:solidFill>
                  <a:srgbClr val="111827"/>
                </a:solidFill>
                <a:latin typeface="Calibri"/>
              </a:rPr>
              <a:t>• Objectif du projet : moins de 5 jours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Problématique, objectifs… et où nous en sommes</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3</a:t>
            </a:r>
          </a:p>
        </p:txBody>
      </p:sp>
      <p:sp>
        <p:nvSpPr>
          <p:cNvPr id="7" name="Rounded Rectangle 6"/>
          <p:cNvSpPr/>
          <p:nvPr/>
        </p:nvSpPr>
        <p:spPr>
          <a:xfrm>
            <a:off x="10561320" y="256032"/>
            <a:ext cx="1463040" cy="384048"/>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Amine · 50s</a:t>
            </a:r>
          </a:p>
        </p:txBody>
      </p:sp>
      <p:sp>
        <p:nvSpPr>
          <p:cNvPr id="8" name="TextBox 7"/>
          <p:cNvSpPr txBox="1"/>
          <p:nvPr/>
        </p:nvSpPr>
        <p:spPr>
          <a:xfrm>
            <a:off x="822960" y="1280160"/>
            <a:ext cx="10515600" cy="1371600"/>
          </a:xfrm>
          <a:prstGeom prst="rect">
            <a:avLst/>
          </a:prstGeom>
          <a:noFill/>
        </p:spPr>
        <p:txBody>
          <a:bodyPr wrap="square" anchor="t" lIns="45720" rIns="45720">
            <a:spAutoFit/>
          </a:bodyPr>
          <a:lstStyle/>
          <a:p>
            <a:pPr algn="l">
              <a:spcAft>
                <a:spcPts val="600"/>
              </a:spcAft>
            </a:pPr>
            <a:r>
              <a:rPr sz="2200" b="1">
                <a:solidFill>
                  <a:srgbClr val="1F3A5F"/>
                </a:solidFill>
                <a:latin typeface="Calibri"/>
              </a:rPr>
              <a:t>« Les gérants de petites structures sans équipe quantitative repèrent trop tard l'entrée des marchés en stress, et peinent à justifier a posteriori leurs décisions de risque. »</a:t>
            </a:r>
          </a:p>
        </p:txBody>
      </p:sp>
      <p:sp>
        <p:nvSpPr>
          <p:cNvPr id="9" name="Rectangle 8"/>
          <p:cNvSpPr/>
          <p:nvPr/>
        </p:nvSpPr>
        <p:spPr>
          <a:xfrm>
            <a:off x="822960" y="2743200"/>
            <a:ext cx="10515600" cy="13716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834640"/>
            <a:ext cx="10058400" cy="365760"/>
          </a:xfrm>
          <a:prstGeom prst="rect">
            <a:avLst/>
          </a:prstGeom>
          <a:noFill/>
        </p:spPr>
        <p:txBody>
          <a:bodyPr wrap="square" anchor="t" lIns="45720" rIns="45720">
            <a:spAutoFit/>
          </a:bodyPr>
          <a:lstStyle/>
          <a:p>
            <a:pPr algn="l">
              <a:spcAft>
                <a:spcPts val="600"/>
              </a:spcAft>
            </a:pPr>
            <a:r>
              <a:rPr sz="1200" b="1">
                <a:solidFill>
                  <a:srgbClr val="E76F51"/>
                </a:solidFill>
                <a:latin typeface="Calibri"/>
              </a:rPr>
              <a:t>QUESTION DIRECTRICE</a:t>
            </a:r>
          </a:p>
        </p:txBody>
      </p:sp>
      <p:sp>
        <p:nvSpPr>
          <p:cNvPr id="11" name="TextBox 10"/>
          <p:cNvSpPr txBox="1"/>
          <p:nvPr/>
        </p:nvSpPr>
        <p:spPr>
          <a:xfrm>
            <a:off x="1051560" y="3154680"/>
            <a:ext cx="10058400" cy="914400"/>
          </a:xfrm>
          <a:prstGeom prst="rect">
            <a:avLst/>
          </a:prstGeom>
          <a:noFill/>
        </p:spPr>
        <p:txBody>
          <a:bodyPr wrap="square" anchor="t" lIns="45720" rIns="45720">
            <a:spAutoFit/>
          </a:bodyPr>
          <a:lstStyle/>
          <a:p>
            <a:pPr algn="l">
              <a:spcAft>
                <a:spcPts val="600"/>
              </a:spcAft>
            </a:pPr>
            <a:r>
              <a:rPr sz="1800" b="0">
                <a:solidFill>
                  <a:srgbClr val="111827"/>
                </a:solidFill>
                <a:latin typeface="Calibri"/>
              </a:rPr>
              <a:t>Comment une IA peut-elle signaler l'entrée en stress en ≤ 5 jours de bourse, avec ≤ 1,5 fausse alerte par an, tout en expliquant son signal à un comité d'allocation ?</a:t>
            </a:r>
          </a:p>
        </p:txBody>
      </p:sp>
      <p:sp>
        <p:nvSpPr>
          <p:cNvPr id="12" name="Rounded Rectangle 11"/>
          <p:cNvSpPr/>
          <p:nvPr/>
        </p:nvSpPr>
        <p:spPr>
          <a:xfrm>
            <a:off x="822960" y="4343400"/>
            <a:ext cx="3291840" cy="132588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389120"/>
            <a:ext cx="3291840" cy="731520"/>
          </a:xfrm>
          <a:prstGeom prst="rect">
            <a:avLst/>
          </a:prstGeom>
          <a:noFill/>
        </p:spPr>
        <p:txBody>
          <a:bodyPr wrap="square" anchor="t" lIns="45720" rIns="45720">
            <a:spAutoFit/>
          </a:bodyPr>
          <a:lstStyle/>
          <a:p>
            <a:pPr algn="ctr">
              <a:spcAft>
                <a:spcPts val="600"/>
              </a:spcAft>
            </a:pPr>
            <a:r>
              <a:rPr sz="3400" b="1">
                <a:solidFill>
                  <a:srgbClr val="E9C46A"/>
                </a:solidFill>
                <a:latin typeface="Calibri"/>
              </a:rPr>
              <a:t>≤ 5 j</a:t>
            </a:r>
          </a:p>
        </p:txBody>
      </p:sp>
      <p:sp>
        <p:nvSpPr>
          <p:cNvPr id="14" name="TextBox 13"/>
          <p:cNvSpPr txBox="1"/>
          <p:nvPr/>
        </p:nvSpPr>
        <p:spPr>
          <a:xfrm>
            <a:off x="822960" y="5120640"/>
            <a:ext cx="3291840" cy="457200"/>
          </a:xfrm>
          <a:prstGeom prst="rect">
            <a:avLst/>
          </a:prstGeom>
          <a:noFill/>
        </p:spPr>
        <p:txBody>
          <a:bodyPr wrap="square" anchor="t" lIns="45720" rIns="45720">
            <a:spAutoFit/>
          </a:bodyPr>
          <a:lstStyle/>
          <a:p>
            <a:pPr algn="ctr">
              <a:spcAft>
                <a:spcPts val="600"/>
              </a:spcAft>
            </a:pPr>
            <a:r>
              <a:rPr sz="1400" b="0">
                <a:solidFill>
                  <a:srgbClr val="FFFFFF"/>
                </a:solidFill>
                <a:latin typeface="Calibri"/>
              </a:rPr>
              <a:t>latence de détection</a:t>
            </a:r>
          </a:p>
        </p:txBody>
      </p:sp>
      <p:sp>
        <p:nvSpPr>
          <p:cNvPr id="15" name="Rounded Rectangle 14"/>
          <p:cNvSpPr/>
          <p:nvPr/>
        </p:nvSpPr>
        <p:spPr>
          <a:xfrm>
            <a:off x="822960" y="5715000"/>
            <a:ext cx="3291840" cy="548640"/>
          </a:xfrm>
          <a:prstGeom prst="roundRect">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715000"/>
            <a:ext cx="3291840" cy="548640"/>
          </a:xfrm>
          <a:prstGeom prst="rect">
            <a:avLst/>
          </a:prstGeom>
          <a:noFill/>
        </p:spPr>
        <p:txBody>
          <a:bodyPr wrap="square" anchor="ctr" lIns="45720" rIns="45720">
            <a:spAutoFit/>
          </a:bodyPr>
          <a:lstStyle/>
          <a:p>
            <a:pPr algn="ctr">
              <a:spcAft>
                <a:spcPts val="600"/>
              </a:spcAft>
            </a:pPr>
            <a:r>
              <a:rPr sz="1400" b="1">
                <a:solidFill>
                  <a:srgbClr val="2E8B57"/>
                </a:solidFill>
                <a:latin typeface="Calibri"/>
              </a:rPr>
              <a:t>backtest : −3 j</a:t>
            </a:r>
          </a:p>
        </p:txBody>
      </p:sp>
      <p:sp>
        <p:nvSpPr>
          <p:cNvPr id="17" name="Rounded Rectangle 16"/>
          <p:cNvSpPr/>
          <p:nvPr/>
        </p:nvSpPr>
        <p:spPr>
          <a:xfrm>
            <a:off x="4434840" y="4343400"/>
            <a:ext cx="3291840" cy="132588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4389120"/>
            <a:ext cx="3291840" cy="731520"/>
          </a:xfrm>
          <a:prstGeom prst="rect">
            <a:avLst/>
          </a:prstGeom>
          <a:noFill/>
        </p:spPr>
        <p:txBody>
          <a:bodyPr wrap="square" anchor="t" lIns="45720" rIns="45720">
            <a:spAutoFit/>
          </a:bodyPr>
          <a:lstStyle/>
          <a:p>
            <a:pPr algn="ctr">
              <a:spcAft>
                <a:spcPts val="600"/>
              </a:spcAft>
            </a:pPr>
            <a:r>
              <a:rPr sz="3400" b="1">
                <a:solidFill>
                  <a:srgbClr val="E9C46A"/>
                </a:solidFill>
                <a:latin typeface="Calibri"/>
              </a:rPr>
              <a:t>≤ 1,5</a:t>
            </a:r>
          </a:p>
        </p:txBody>
      </p:sp>
      <p:sp>
        <p:nvSpPr>
          <p:cNvPr id="19" name="TextBox 18"/>
          <p:cNvSpPr txBox="1"/>
          <p:nvPr/>
        </p:nvSpPr>
        <p:spPr>
          <a:xfrm>
            <a:off x="4434840" y="5120640"/>
            <a:ext cx="3291840" cy="457200"/>
          </a:xfrm>
          <a:prstGeom prst="rect">
            <a:avLst/>
          </a:prstGeom>
          <a:noFill/>
        </p:spPr>
        <p:txBody>
          <a:bodyPr wrap="square" anchor="t" lIns="45720" rIns="45720">
            <a:spAutoFit/>
          </a:bodyPr>
          <a:lstStyle/>
          <a:p>
            <a:pPr algn="ctr">
              <a:spcAft>
                <a:spcPts val="600"/>
              </a:spcAft>
            </a:pPr>
            <a:r>
              <a:rPr sz="1400" b="0">
                <a:solidFill>
                  <a:srgbClr val="FFFFFF"/>
                </a:solidFill>
                <a:latin typeface="Calibri"/>
              </a:rPr>
              <a:t>fausse alerte / an</a:t>
            </a:r>
          </a:p>
        </p:txBody>
      </p:sp>
      <p:sp>
        <p:nvSpPr>
          <p:cNvPr id="20" name="Rounded Rectangle 19"/>
          <p:cNvSpPr/>
          <p:nvPr/>
        </p:nvSpPr>
        <p:spPr>
          <a:xfrm>
            <a:off x="4434840" y="5715000"/>
            <a:ext cx="3291840" cy="548640"/>
          </a:xfrm>
          <a:prstGeom prst="roundRect">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5715000"/>
            <a:ext cx="3291840" cy="548640"/>
          </a:xfrm>
          <a:prstGeom prst="rect">
            <a:avLst/>
          </a:prstGeom>
          <a:noFill/>
        </p:spPr>
        <p:txBody>
          <a:bodyPr wrap="square" anchor="ctr" lIns="45720" rIns="45720">
            <a:spAutoFit/>
          </a:bodyPr>
          <a:lstStyle/>
          <a:p>
            <a:pPr algn="ctr">
              <a:spcAft>
                <a:spcPts val="600"/>
              </a:spcAft>
            </a:pPr>
            <a:r>
              <a:rPr sz="1400" b="1">
                <a:solidFill>
                  <a:srgbClr val="2E8B57"/>
                </a:solidFill>
                <a:latin typeface="Calibri"/>
              </a:rPr>
              <a:t>backtest : 1,26</a:t>
            </a:r>
          </a:p>
        </p:txBody>
      </p:sp>
      <p:sp>
        <p:nvSpPr>
          <p:cNvPr id="22" name="Rounded Rectangle 21"/>
          <p:cNvSpPr/>
          <p:nvPr/>
        </p:nvSpPr>
        <p:spPr>
          <a:xfrm>
            <a:off x="8046720" y="4343400"/>
            <a:ext cx="3291840" cy="132588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0" y="4389120"/>
            <a:ext cx="3291840" cy="731520"/>
          </a:xfrm>
          <a:prstGeom prst="rect">
            <a:avLst/>
          </a:prstGeom>
          <a:noFill/>
        </p:spPr>
        <p:txBody>
          <a:bodyPr wrap="square" anchor="t" lIns="45720" rIns="45720">
            <a:spAutoFit/>
          </a:bodyPr>
          <a:lstStyle/>
          <a:p>
            <a:pPr algn="ctr">
              <a:spcAft>
                <a:spcPts val="600"/>
              </a:spcAft>
            </a:pPr>
            <a:r>
              <a:rPr sz="3400" b="1">
                <a:solidFill>
                  <a:srgbClr val="E9C46A"/>
                </a:solidFill>
                <a:latin typeface="Calibri"/>
              </a:rPr>
              <a:t>calibrée</a:t>
            </a:r>
          </a:p>
        </p:txBody>
      </p:sp>
      <p:sp>
        <p:nvSpPr>
          <p:cNvPr id="24" name="TextBox 23"/>
          <p:cNvSpPr txBox="1"/>
          <p:nvPr/>
        </p:nvSpPr>
        <p:spPr>
          <a:xfrm>
            <a:off x="8046720" y="5120640"/>
            <a:ext cx="3291840" cy="457200"/>
          </a:xfrm>
          <a:prstGeom prst="rect">
            <a:avLst/>
          </a:prstGeom>
          <a:noFill/>
        </p:spPr>
        <p:txBody>
          <a:bodyPr wrap="square" anchor="t" lIns="45720" rIns="45720">
            <a:spAutoFit/>
          </a:bodyPr>
          <a:lstStyle/>
          <a:p>
            <a:pPr algn="ctr">
              <a:spcAft>
                <a:spcPts val="600"/>
              </a:spcAft>
            </a:pPr>
            <a:r>
              <a:rPr sz="1400" b="0">
                <a:solidFill>
                  <a:srgbClr val="FFFFFF"/>
                </a:solidFill>
                <a:latin typeface="Calibri"/>
              </a:rPr>
              <a:t>probabilité de stress</a:t>
            </a:r>
          </a:p>
        </p:txBody>
      </p:sp>
      <p:sp>
        <p:nvSpPr>
          <p:cNvPr id="25" name="Rounded Rectangle 24"/>
          <p:cNvSpPr/>
          <p:nvPr/>
        </p:nvSpPr>
        <p:spPr>
          <a:xfrm>
            <a:off x="8046720" y="5715000"/>
            <a:ext cx="3291840" cy="548640"/>
          </a:xfrm>
          <a:prstGeom prst="roundRect">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0" y="5715000"/>
            <a:ext cx="3291840" cy="548640"/>
          </a:xfrm>
          <a:prstGeom prst="rect">
            <a:avLst/>
          </a:prstGeom>
          <a:noFill/>
        </p:spPr>
        <p:txBody>
          <a:bodyPr wrap="square" anchor="ctr" lIns="45720" rIns="45720">
            <a:spAutoFit/>
          </a:bodyPr>
          <a:lstStyle/>
          <a:p>
            <a:pPr algn="ctr">
              <a:spcAft>
                <a:spcPts val="600"/>
              </a:spcAft>
            </a:pPr>
            <a:r>
              <a:rPr sz="1400" b="1">
                <a:solidFill>
                  <a:srgbClr val="2E8B57"/>
                </a:solidFill>
                <a:latin typeface="Calibri"/>
              </a:rPr>
              <a:t>Brier 0,100 → 0,091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Pour qui ? Un besoin vérifié sur le terrain</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4</a:t>
            </a:r>
          </a:p>
        </p:txBody>
      </p:sp>
      <p:sp>
        <p:nvSpPr>
          <p:cNvPr id="7" name="Rounded Rectangle 6"/>
          <p:cNvSpPr/>
          <p:nvPr/>
        </p:nvSpPr>
        <p:spPr>
          <a:xfrm>
            <a:off x="10561320" y="256032"/>
            <a:ext cx="1463040" cy="384048"/>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Robin · 50s</a:t>
            </a:r>
          </a:p>
        </p:txBody>
      </p:sp>
      <p:sp>
        <p:nvSpPr>
          <p:cNvPr id="8" name="Rectangle 7"/>
          <p:cNvSpPr/>
          <p:nvPr/>
        </p:nvSpPr>
        <p:spPr>
          <a:xfrm>
            <a:off x="365760" y="1234440"/>
            <a:ext cx="3931920" cy="49377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0080" y="1463040"/>
            <a:ext cx="822960" cy="82296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t>C</a:t>
            </a:r>
          </a:p>
        </p:txBody>
      </p:sp>
      <p:sp>
        <p:nvSpPr>
          <p:cNvPr id="10" name="TextBox 9"/>
          <p:cNvSpPr txBox="1"/>
          <p:nvPr/>
        </p:nvSpPr>
        <p:spPr>
          <a:xfrm>
            <a:off x="1600200" y="1554480"/>
            <a:ext cx="2651760" cy="731520"/>
          </a:xfrm>
          <a:prstGeom prst="rect">
            <a:avLst/>
          </a:prstGeom>
          <a:noFill/>
        </p:spPr>
        <p:txBody>
          <a:bodyPr wrap="square" anchor="t" lIns="45720" rIns="45720">
            <a:spAutoFit/>
          </a:bodyPr>
          <a:lstStyle/>
          <a:p>
            <a:pPr algn="l">
              <a:spcAft>
                <a:spcPts val="600"/>
              </a:spcAft>
            </a:pPr>
            <a:r>
              <a:rPr sz="1200" b="0">
                <a:solidFill>
                  <a:srgbClr val="6B7280"/>
                </a:solidFill>
                <a:latin typeface="Calibri"/>
              </a:rPr>
              <a:t>Persona (fictif)</a:t>
            </a:r>
          </a:p>
        </p:txBody>
      </p:sp>
      <p:sp>
        <p:nvSpPr>
          <p:cNvPr id="11" name="TextBox 10"/>
          <p:cNvSpPr txBox="1"/>
          <p:nvPr/>
        </p:nvSpPr>
        <p:spPr>
          <a:xfrm>
            <a:off x="1600200" y="1783080"/>
            <a:ext cx="2651760" cy="731520"/>
          </a:xfrm>
          <a:prstGeom prst="rect">
            <a:avLst/>
          </a:prstGeom>
          <a:noFill/>
        </p:spPr>
        <p:txBody>
          <a:bodyPr wrap="square" anchor="t" lIns="45720" rIns="45720">
            <a:spAutoFit/>
          </a:bodyPr>
          <a:lstStyle/>
          <a:p>
            <a:pPr algn="l">
              <a:spcAft>
                <a:spcPts val="600"/>
              </a:spcAft>
            </a:pPr>
            <a:r>
              <a:rPr sz="1600" b="1">
                <a:solidFill>
                  <a:srgbClr val="1F3A5F"/>
                </a:solidFill>
                <a:latin typeface="Calibri"/>
              </a:rPr>
              <a:t>« Claire », gérante multi-actifs</a:t>
            </a:r>
          </a:p>
        </p:txBody>
      </p:sp>
      <p:sp>
        <p:nvSpPr>
          <p:cNvPr id="12" name="TextBox 11"/>
          <p:cNvSpPr txBox="1"/>
          <p:nvPr/>
        </p:nvSpPr>
        <p:spPr>
          <a:xfrm>
            <a:off x="594360" y="2514600"/>
            <a:ext cx="3566160" cy="3566160"/>
          </a:xfrm>
          <a:prstGeom prst="rect">
            <a:avLst/>
          </a:prstGeom>
          <a:noFill/>
        </p:spPr>
        <p:txBody>
          <a:bodyPr wrap="square" anchor="t" lIns="45720" rIns="45720">
            <a:spAutoFit/>
          </a:bodyPr>
          <a:lstStyle/>
          <a:p>
            <a:pPr algn="l">
              <a:spcAft>
                <a:spcPts val="900"/>
              </a:spcAft>
            </a:pPr>
            <a:r>
              <a:rPr sz="1400" b="0">
                <a:solidFill>
                  <a:srgbClr val="111827"/>
                </a:solidFill>
                <a:latin typeface="Calibri"/>
              </a:rPr>
              <a:t>• SGP de 15 personnes, 400 M€ d'encours</a:t>
            </a:r>
          </a:p>
          <a:p>
            <a:pPr algn="l">
              <a:spcAft>
                <a:spcPts val="900"/>
              </a:spcAft>
            </a:pPr>
            <a:r>
              <a:rPr sz="1400" b="0">
                <a:solidFill>
                  <a:srgbClr val="111827"/>
                </a:solidFill>
                <a:latin typeface="Calibri"/>
              </a:rPr>
              <a:t>• Comité d'allocation mensuel, pas de quant</a:t>
            </a:r>
          </a:p>
          <a:p>
            <a:pPr algn="l">
              <a:spcAft>
                <a:spcPts val="900"/>
              </a:spcAft>
            </a:pPr>
            <a:r>
              <a:rPr sz="1400" b="0">
                <a:solidFill>
                  <a:srgbClr val="111827"/>
                </a:solidFill>
                <a:latin typeface="Calibri"/>
              </a:rPr>
              <a:t>• Outils : Bloomberg ou Koyfin, Excel</a:t>
            </a:r>
          </a:p>
          <a:p>
            <a:pPr algn="l">
              <a:spcAft>
                <a:spcPts val="900"/>
              </a:spcAft>
            </a:pPr>
            <a:r>
              <a:rPr sz="1400" b="0">
                <a:solidFill>
                  <a:srgbClr val="111827"/>
                </a:solidFill>
                <a:latin typeface="Calibri"/>
              </a:rPr>
              <a:t>• Douleur : décide trop tard, justifie mal</a:t>
            </a:r>
          </a:p>
          <a:p>
            <a:pPr algn="l">
              <a:spcAft>
                <a:spcPts val="900"/>
              </a:spcAft>
            </a:pPr>
            <a:r>
              <a:rPr sz="1400" b="0">
                <a:solidFill>
                  <a:srgbClr val="111827"/>
                </a:solidFill>
                <a:latin typeface="Calibri"/>
              </a:rPr>
              <a:t>• Achète : un signal, ses raisons, un historique honnête</a:t>
            </a:r>
          </a:p>
        </p:txBody>
      </p:sp>
      <p:pic>
        <p:nvPicPr>
          <p:cNvPr id="13" name="Picture 12" descr="02_entretiens.png"/>
          <p:cNvPicPr>
            <a:picLocks noChangeAspect="1"/>
          </p:cNvPicPr>
          <p:nvPr/>
        </p:nvPicPr>
        <p:blipFill>
          <a:blip r:embed="rId2"/>
          <a:stretch>
            <a:fillRect/>
          </a:stretch>
        </p:blipFill>
        <p:spPr>
          <a:xfrm>
            <a:off x="4526280" y="1574708"/>
            <a:ext cx="7406639" cy="3159943"/>
          </a:xfrm>
          <a:prstGeom prst="rect">
            <a:avLst/>
          </a:prstGeom>
        </p:spPr>
      </p:pic>
      <p:sp>
        <p:nvSpPr>
          <p:cNvPr id="14" name="Rounded Rectangle 13"/>
          <p:cNvSpPr/>
          <p:nvPr/>
        </p:nvSpPr>
        <p:spPr>
          <a:xfrm>
            <a:off x="4663440" y="5349240"/>
            <a:ext cx="3474720" cy="77724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5349240"/>
            <a:ext cx="3474720" cy="777240"/>
          </a:xfrm>
          <a:prstGeom prst="rect">
            <a:avLst/>
          </a:prstGeom>
          <a:noFill/>
        </p:spPr>
        <p:txBody>
          <a:bodyPr wrap="square" anchor="ctr" lIns="45720" rIns="45720">
            <a:spAutoFit/>
          </a:bodyPr>
          <a:lstStyle/>
          <a:p>
            <a:pPr algn="ctr">
              <a:spcAft>
                <a:spcPts val="600"/>
              </a:spcAft>
            </a:pPr>
            <a:r>
              <a:rPr sz="1500" b="1">
                <a:solidFill>
                  <a:srgbClr val="FFFFFF"/>
                </a:solidFill>
                <a:latin typeface="Calibri"/>
              </a:rPr>
              <a:t>13 entretiens (gérants, family offices, CGP)</a:t>
            </a:r>
          </a:p>
        </p:txBody>
      </p:sp>
      <p:sp>
        <p:nvSpPr>
          <p:cNvPr id="16" name="Rounded Rectangle 15"/>
          <p:cNvSpPr/>
          <p:nvPr/>
        </p:nvSpPr>
        <p:spPr>
          <a:xfrm>
            <a:off x="8321040" y="5349240"/>
            <a:ext cx="3474720" cy="77724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5349240"/>
            <a:ext cx="3474720" cy="777240"/>
          </a:xfrm>
          <a:prstGeom prst="rect">
            <a:avLst/>
          </a:prstGeom>
          <a:noFill/>
        </p:spPr>
        <p:txBody>
          <a:bodyPr wrap="square" anchor="ctr" lIns="45720" rIns="45720">
            <a:spAutoFit/>
          </a:bodyPr>
          <a:lstStyle/>
          <a:p>
            <a:pPr algn="ctr">
              <a:spcAft>
                <a:spcPts val="600"/>
              </a:spcAft>
            </a:pPr>
            <a:r>
              <a:rPr sz="1500" b="1">
                <a:solidFill>
                  <a:srgbClr val="FFFFFF"/>
                </a:solidFill>
                <a:latin typeface="Calibri"/>
              </a:rPr>
              <a:t>6 prêts à tester · 2 prêts à payer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Ce que disent 54 professionnels (questionnaire en ligne)</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5</a:t>
            </a:r>
          </a:p>
        </p:txBody>
      </p:sp>
      <p:sp>
        <p:nvSpPr>
          <p:cNvPr id="7" name="Rounded Rectangle 6"/>
          <p:cNvSpPr/>
          <p:nvPr/>
        </p:nvSpPr>
        <p:spPr>
          <a:xfrm>
            <a:off x="10561320" y="256032"/>
            <a:ext cx="1463040" cy="384048"/>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Robin · 30s</a:t>
            </a:r>
          </a:p>
        </p:txBody>
      </p:sp>
      <p:pic>
        <p:nvPicPr>
          <p:cNvPr id="8" name="Picture 7" descr="03_sondage_besoins.png"/>
          <p:cNvPicPr>
            <a:picLocks noChangeAspect="1"/>
          </p:cNvPicPr>
          <p:nvPr/>
        </p:nvPicPr>
        <p:blipFill>
          <a:blip r:embed="rId2"/>
          <a:stretch>
            <a:fillRect/>
          </a:stretch>
        </p:blipFill>
        <p:spPr>
          <a:xfrm>
            <a:off x="320040" y="2323599"/>
            <a:ext cx="7863840" cy="2759441"/>
          </a:xfrm>
          <a:prstGeom prst="rect">
            <a:avLst/>
          </a:prstGeom>
        </p:spPr>
      </p:pic>
      <p:sp>
        <p:nvSpPr>
          <p:cNvPr id="9" name="Rectangle 8"/>
          <p:cNvSpPr/>
          <p:nvPr/>
        </p:nvSpPr>
        <p:spPr>
          <a:xfrm>
            <a:off x="8366760" y="1325880"/>
            <a:ext cx="3520440" cy="475488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66760" y="1325880"/>
            <a:ext cx="73152" cy="475488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0" y="1508760"/>
            <a:ext cx="3154680" cy="4480560"/>
          </a:xfrm>
          <a:prstGeom prst="rect">
            <a:avLst/>
          </a:prstGeom>
          <a:noFill/>
        </p:spPr>
        <p:txBody>
          <a:bodyPr wrap="square" anchor="t" lIns="45720" rIns="45720">
            <a:spAutoFit/>
          </a:bodyPr>
          <a:lstStyle/>
          <a:p>
            <a:pPr algn="l">
              <a:spcAft>
                <a:spcPts val="1000"/>
              </a:spcAft>
            </a:pPr>
            <a:r>
              <a:rPr sz="1500" b="0">
                <a:solidFill>
                  <a:srgbClr val="111827"/>
                </a:solidFill>
                <a:latin typeface="Calibri"/>
              </a:rPr>
              <a:t>• 3 douleurs majeures : consolider, justifier, réagir tôt</a:t>
            </a:r>
          </a:p>
          <a:p>
            <a:pPr algn="l">
              <a:spcAft>
                <a:spcPts val="1000"/>
              </a:spcAft>
            </a:pPr>
            <a:r>
              <a:rPr sz="1500" b="0">
                <a:solidFill>
                  <a:srgbClr val="111827"/>
                </a:solidFill>
                <a:latin typeface="Calibri"/>
              </a:rPr>
              <a:t>• La note de comité PDF est la sortie n°1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État de l'art : la méthode est publique, la preuve ne l'est pas</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6</a:t>
            </a:r>
          </a:p>
        </p:txBody>
      </p:sp>
      <p:sp>
        <p:nvSpPr>
          <p:cNvPr id="7" name="Rounded Rectangle 6"/>
          <p:cNvSpPr/>
          <p:nvPr/>
        </p:nvSpPr>
        <p:spPr>
          <a:xfrm>
            <a:off x="10561320" y="256032"/>
            <a:ext cx="1463040" cy="384048"/>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Gabriel · 50s</a:t>
            </a:r>
          </a:p>
        </p:txBody>
      </p:sp>
      <p:pic>
        <p:nvPicPr>
          <p:cNvPr id="8" name="Picture 7" descr="07_etat_art.png"/>
          <p:cNvPicPr>
            <a:picLocks noChangeAspect="1"/>
          </p:cNvPicPr>
          <p:nvPr/>
        </p:nvPicPr>
        <p:blipFill>
          <a:blip r:embed="rId2"/>
          <a:stretch>
            <a:fillRect/>
          </a:stretch>
        </p:blipFill>
        <p:spPr>
          <a:xfrm>
            <a:off x="423800" y="1143000"/>
            <a:ext cx="7656320" cy="5120640"/>
          </a:xfrm>
          <a:prstGeom prst="rect">
            <a:avLst/>
          </a:prstGeom>
        </p:spPr>
      </p:pic>
      <p:sp>
        <p:nvSpPr>
          <p:cNvPr id="9" name="Rectangle 8"/>
          <p:cNvSpPr/>
          <p:nvPr/>
        </p:nvSpPr>
        <p:spPr>
          <a:xfrm>
            <a:off x="8366760" y="1325880"/>
            <a:ext cx="3520440" cy="475488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66760" y="1325880"/>
            <a:ext cx="73152" cy="475488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0" y="1508760"/>
            <a:ext cx="3154680" cy="4480560"/>
          </a:xfrm>
          <a:prstGeom prst="rect">
            <a:avLst/>
          </a:prstGeom>
          <a:noFill/>
        </p:spPr>
        <p:txBody>
          <a:bodyPr wrap="square" anchor="t" lIns="45720" rIns="45720">
            <a:spAutoFit/>
          </a:bodyPr>
          <a:lstStyle/>
          <a:p>
            <a:pPr algn="l">
              <a:spcAft>
                <a:spcPts val="1000"/>
              </a:spcAft>
            </a:pPr>
            <a:r>
              <a:rPr sz="1500" b="0">
                <a:solidFill>
                  <a:srgbClr val="111827"/>
                </a:solidFill>
                <a:latin typeface="Calibri"/>
              </a:rPr>
              <a:t>• HMM : référence (Hamilton 1989) mais « flip-flop »</a:t>
            </a:r>
          </a:p>
          <a:p>
            <a:pPr algn="l">
              <a:spcAft>
                <a:spcPts val="1000"/>
              </a:spcAft>
            </a:pPr>
            <a:r>
              <a:rPr sz="1500" b="0">
                <a:solidFill>
                  <a:srgbClr val="111827"/>
                </a:solidFill>
                <a:latin typeface="Calibri"/>
              </a:rPr>
              <a:t>• Clustering : simple, sans notion de temps</a:t>
            </a:r>
          </a:p>
          <a:p>
            <a:pPr algn="l">
              <a:spcAft>
                <a:spcPts val="1000"/>
              </a:spcAft>
            </a:pPr>
            <a:r>
              <a:rPr sz="1500" b="0">
                <a:solidFill>
                  <a:srgbClr val="111827"/>
                </a:solidFill>
                <a:latin typeface="Calibri"/>
              </a:rPr>
              <a:t>• Deep learning : trop gourmand pour une dizaine de crises</a:t>
            </a:r>
          </a:p>
          <a:p>
            <a:pPr algn="l">
              <a:spcAft>
                <a:spcPts val="1000"/>
              </a:spcAft>
            </a:pPr>
            <a:r>
              <a:rPr sz="1500" b="0">
                <a:solidFill>
                  <a:srgbClr val="111827"/>
                </a:solidFill>
                <a:latin typeface="Calibri"/>
              </a:rPr>
              <a:t>• Statistical Jump Model (Shu &amp; Mulvey 2024) : régimes persistants, testé hors échantillon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Positionnement : un espace libre pour les petits gérants</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7</a:t>
            </a:r>
          </a:p>
        </p:txBody>
      </p:sp>
      <p:sp>
        <p:nvSpPr>
          <p:cNvPr id="7" name="Rounded Rectangle 6"/>
          <p:cNvSpPr/>
          <p:nvPr/>
        </p:nvSpPr>
        <p:spPr>
          <a:xfrm>
            <a:off x="10561320" y="256032"/>
            <a:ext cx="1463040" cy="384048"/>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Gabriel · 30s</a:t>
            </a:r>
          </a:p>
        </p:txBody>
      </p:sp>
      <p:pic>
        <p:nvPicPr>
          <p:cNvPr id="8" name="Picture 7" descr="06_positionnement.png"/>
          <p:cNvPicPr>
            <a:picLocks noChangeAspect="1"/>
          </p:cNvPicPr>
          <p:nvPr/>
        </p:nvPicPr>
        <p:blipFill>
          <a:blip r:embed="rId2"/>
          <a:stretch>
            <a:fillRect/>
          </a:stretch>
        </p:blipFill>
        <p:spPr>
          <a:xfrm>
            <a:off x="320040" y="1599840"/>
            <a:ext cx="7863840" cy="4206960"/>
          </a:xfrm>
          <a:prstGeom prst="rect">
            <a:avLst/>
          </a:prstGeom>
        </p:spPr>
      </p:pic>
      <p:sp>
        <p:nvSpPr>
          <p:cNvPr id="9" name="Rectangle 8"/>
          <p:cNvSpPr/>
          <p:nvPr/>
        </p:nvSpPr>
        <p:spPr>
          <a:xfrm>
            <a:off x="8366760" y="1325880"/>
            <a:ext cx="3520440" cy="475488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66760" y="1325880"/>
            <a:ext cx="73152" cy="475488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0" y="1508760"/>
            <a:ext cx="3154680" cy="4480560"/>
          </a:xfrm>
          <a:prstGeom prst="rect">
            <a:avLst/>
          </a:prstGeom>
          <a:noFill/>
        </p:spPr>
        <p:txBody>
          <a:bodyPr wrap="square" anchor="t" lIns="45720" rIns="45720">
            <a:spAutoFit/>
          </a:bodyPr>
          <a:lstStyle/>
          <a:p>
            <a:pPr algn="l">
              <a:spcAft>
                <a:spcPts val="1000"/>
              </a:spcAft>
            </a:pPr>
            <a:r>
              <a:rPr sz="1500" b="0">
                <a:solidFill>
                  <a:srgbClr val="111827"/>
                </a:solidFill>
                <a:latin typeface="Calibri"/>
              </a:rPr>
              <a:t>• À droite : data institutionnelle sur devis</a:t>
            </a:r>
          </a:p>
          <a:p>
            <a:pPr algn="l">
              <a:spcAft>
                <a:spcPts val="1000"/>
              </a:spcAft>
            </a:pPr>
            <a:r>
              <a:rPr sz="1500" b="0">
                <a:solidFill>
                  <a:srgbClr val="111827"/>
                </a:solidFill>
                <a:latin typeface="Calibri"/>
              </a:rPr>
              <a:t>• À gauche : scores bruts gratuits</a:t>
            </a:r>
          </a:p>
          <a:p>
            <a:pPr algn="l">
              <a:spcAft>
                <a:spcPts val="1000"/>
              </a:spcAft>
            </a:pPr>
            <a:r>
              <a:rPr sz="1500" b="0">
                <a:solidFill>
                  <a:srgbClr val="111827"/>
                </a:solidFill>
                <a:latin typeface="Calibri"/>
              </a:rPr>
              <a:t>• Notre espace : régime expliqué + latence publiée + historique vérifiable</a:t>
            </a:r>
          </a:p>
          <a:p>
            <a:pPr algn="l">
              <a:spcAft>
                <a:spcPts val="1000"/>
              </a:spcAft>
            </a:pPr>
            <a:r>
              <a:rPr sz="1500" b="0">
                <a:solidFill>
                  <a:srgbClr val="111827"/>
                </a:solidFill>
                <a:latin typeface="Calibri"/>
              </a:rPr>
              <a:t>• Marché adressable estimé ≈ 22 M€/an (Europe)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Notre solution : un signal expliqué et une preuve publique</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8</a:t>
            </a:r>
          </a:p>
        </p:txBody>
      </p:sp>
      <p:sp>
        <p:nvSpPr>
          <p:cNvPr id="7" name="Rounded Rectangle 6"/>
          <p:cNvSpPr/>
          <p:nvPr/>
        </p:nvSpPr>
        <p:spPr>
          <a:xfrm>
            <a:off x="10561320" y="256032"/>
            <a:ext cx="1463040" cy="384048"/>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Titouan · 55s</a:t>
            </a:r>
          </a:p>
        </p:txBody>
      </p:sp>
      <p:sp>
        <p:nvSpPr>
          <p:cNvPr id="8" name="TextBox 7"/>
          <p:cNvSpPr txBox="1"/>
          <p:nvPr/>
        </p:nvSpPr>
        <p:spPr>
          <a:xfrm>
            <a:off x="365760" y="1097280"/>
            <a:ext cx="11430000" cy="914400"/>
          </a:xfrm>
          <a:prstGeom prst="rect">
            <a:avLst/>
          </a:prstGeom>
          <a:noFill/>
        </p:spPr>
        <p:txBody>
          <a:bodyPr wrap="square" anchor="t" lIns="45720" rIns="45720">
            <a:spAutoFit/>
          </a:bodyPr>
          <a:lstStyle/>
          <a:p>
            <a:pPr algn="l">
              <a:spcAft>
                <a:spcPts val="600"/>
              </a:spcAft>
            </a:pPr>
            <a:r>
              <a:rPr sz="1500" b="1">
                <a:solidFill>
                  <a:srgbClr val="1F3A5F"/>
                </a:solidFill>
                <a:latin typeface="Calibri"/>
              </a:rPr>
              <a:t>Chaque soir, notre outil indique aux petits gérants de fonds européens dans quel « climat » se trouvent les marchés (Expansion, Surchauffe, Ralentissement ou Stress), avec une probabilité calibrée et les raisons de ce diagnostic. Il leur fournit une note prête pour leur comité des risques et un historique public, horodaté et infalsifiable, de tous ses signaux, pour qu'ils réduisent le risque plus tôt et justifient leurs décisions.</a:t>
            </a:r>
          </a:p>
        </p:txBody>
      </p:sp>
      <p:pic>
        <p:nvPicPr>
          <p:cNvPr id="9" name="Picture 8" descr="15b_track_record_crop.png"/>
          <p:cNvPicPr>
            <a:picLocks noChangeAspect="1"/>
          </p:cNvPicPr>
          <p:nvPr/>
        </p:nvPicPr>
        <p:blipFill>
          <a:blip r:embed="rId2"/>
          <a:stretch>
            <a:fillRect/>
          </a:stretch>
        </p:blipFill>
        <p:spPr>
          <a:xfrm>
            <a:off x="941405" y="2103120"/>
            <a:ext cx="5066630" cy="4069080"/>
          </a:xfrm>
          <a:prstGeom prst="rect">
            <a:avLst/>
          </a:prstGeom>
          <a:ln>
            <a:solidFill>
              <a:srgbClr val="D1D5DB"/>
            </a:solidFill>
          </a:ln>
        </p:spPr>
      </p:pic>
      <p:sp>
        <p:nvSpPr>
          <p:cNvPr id="10" name="TextBox 9"/>
          <p:cNvSpPr txBox="1"/>
          <p:nvPr/>
        </p:nvSpPr>
        <p:spPr>
          <a:xfrm>
            <a:off x="320040" y="6199632"/>
            <a:ext cx="6309360" cy="274320"/>
          </a:xfrm>
          <a:prstGeom prst="rect">
            <a:avLst/>
          </a:prstGeom>
          <a:noFill/>
        </p:spPr>
        <p:txBody>
          <a:bodyPr wrap="square" anchor="t" lIns="45720" rIns="45720">
            <a:spAutoFit/>
          </a:bodyPr>
          <a:lstStyle/>
          <a:p>
            <a:pPr algn="ctr">
              <a:spcAft>
                <a:spcPts val="600"/>
              </a:spcAft>
            </a:pPr>
            <a:r>
              <a:rPr sz="900" b="0">
                <a:solidFill>
                  <a:srgbClr val="6B7280"/>
                </a:solidFill>
                <a:latin typeface="Calibri"/>
              </a:rPr>
              <a:t>Page publique réelle du track record (track_record/fr.html, 20/10/2026)</a:t>
            </a:r>
          </a:p>
        </p:txBody>
      </p:sp>
      <p:sp>
        <p:nvSpPr>
          <p:cNvPr id="11" name="TextBox 10"/>
          <p:cNvSpPr txBox="1"/>
          <p:nvPr/>
        </p:nvSpPr>
        <p:spPr>
          <a:xfrm>
            <a:off x="6858000" y="2103120"/>
            <a:ext cx="5029200" cy="365760"/>
          </a:xfrm>
          <a:prstGeom prst="rect">
            <a:avLst/>
          </a:prstGeom>
          <a:noFill/>
        </p:spPr>
        <p:txBody>
          <a:bodyPr wrap="square" anchor="t" lIns="45720" rIns="45720">
            <a:spAutoFit/>
          </a:bodyPr>
          <a:lstStyle/>
          <a:p>
            <a:pPr algn="l">
              <a:spcAft>
                <a:spcPts val="600"/>
              </a:spcAft>
            </a:pPr>
            <a:r>
              <a:rPr sz="1200" b="1">
                <a:solidFill>
                  <a:srgbClr val="2A9D8F"/>
                </a:solidFill>
                <a:latin typeface="Calibri"/>
              </a:rPr>
              <a:t>ÉVOLUTIONS DEPUIS J1</a:t>
            </a:r>
          </a:p>
        </p:txBody>
      </p:sp>
      <p:sp>
        <p:nvSpPr>
          <p:cNvPr id="12" name="TextBox 11"/>
          <p:cNvSpPr txBox="1"/>
          <p:nvPr/>
        </p:nvSpPr>
        <p:spPr>
          <a:xfrm>
            <a:off x="6858000" y="2423160"/>
            <a:ext cx="5029200" cy="2103120"/>
          </a:xfrm>
          <a:prstGeom prst="rect">
            <a:avLst/>
          </a:prstGeom>
          <a:noFill/>
        </p:spPr>
        <p:txBody>
          <a:bodyPr wrap="square" anchor="t" lIns="45720" rIns="45720">
            <a:spAutoFit/>
          </a:bodyPr>
          <a:lstStyle/>
          <a:p>
            <a:pPr algn="l">
              <a:spcAft>
                <a:spcPts val="500"/>
              </a:spcAft>
            </a:pPr>
            <a:r>
              <a:rPr sz="1250" b="0">
                <a:solidFill>
                  <a:srgbClr val="111827"/>
                </a:solidFill>
                <a:latin typeface="Calibri"/>
              </a:rPr>
              <a:t>• 3 dimensions (stress, croissance, inflation) au lieu de 2</a:t>
            </a:r>
          </a:p>
          <a:p>
            <a:pPr algn="l">
              <a:spcAft>
                <a:spcPts val="500"/>
              </a:spcAft>
            </a:pPr>
            <a:r>
              <a:rPr sz="1250" b="0">
                <a:solidFill>
                  <a:srgbClr val="111827"/>
                </a:solidFill>
                <a:latin typeface="Calibri"/>
              </a:rPr>
              <a:t>• Détecteur de stress v2 pré-enregistré : 11/11 crises</a:t>
            </a:r>
          </a:p>
          <a:p>
            <a:pPr algn="l">
              <a:spcAft>
                <a:spcPts val="500"/>
              </a:spcAft>
            </a:pPr>
            <a:r>
              <a:rPr sz="1250" b="0">
                <a:solidFill>
                  <a:srgbClr val="111827"/>
                </a:solidFill>
                <a:latin typeface="Calibri"/>
              </a:rPr>
              <a:t>• Suivi live dès le 01/10 (prévu le 30/10), 4 zones</a:t>
            </a:r>
          </a:p>
          <a:p>
            <a:pPr algn="l">
              <a:spcAft>
                <a:spcPts val="500"/>
              </a:spcAft>
            </a:pPr>
            <a:r>
              <a:rPr sz="1250" b="0">
                <a:solidFill>
                  <a:srgbClr val="111827"/>
                </a:solidFill>
                <a:latin typeface="Calibri"/>
              </a:rPr>
              <a:t>• Couche actualité IA : reportée en Phase 3</a:t>
            </a:r>
          </a:p>
        </p:txBody>
      </p:sp>
      <p:sp>
        <p:nvSpPr>
          <p:cNvPr id="13" name="Rectangle 12"/>
          <p:cNvSpPr/>
          <p:nvPr/>
        </p:nvSpPr>
        <p:spPr>
          <a:xfrm>
            <a:off x="6858000" y="4434840"/>
            <a:ext cx="5029200" cy="1920240"/>
          </a:xfrm>
          <a:prstGeom prst="rect">
            <a:avLst/>
          </a:prstGeom>
          <a:solidFill>
            <a:srgbClr val="FEF3C7"/>
          </a:solidFill>
          <a:ln>
            <a:solidFill>
              <a:srgbClr val="E76F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0" y="4480560"/>
            <a:ext cx="4754880" cy="365760"/>
          </a:xfrm>
          <a:prstGeom prst="rect">
            <a:avLst/>
          </a:prstGeom>
          <a:noFill/>
        </p:spPr>
        <p:txBody>
          <a:bodyPr wrap="square" anchor="t" lIns="45720" rIns="45720">
            <a:spAutoFit/>
          </a:bodyPr>
          <a:lstStyle/>
          <a:p>
            <a:pPr algn="l">
              <a:spcAft>
                <a:spcPts val="600"/>
              </a:spcAft>
            </a:pPr>
            <a:r>
              <a:rPr sz="1200" b="1">
                <a:solidFill>
                  <a:srgbClr val="E76F51"/>
                </a:solidFill>
                <a:latin typeface="Calibri"/>
              </a:rPr>
              <a:t>CE QUI RESTE LE PLUS RISQUÉ</a:t>
            </a:r>
          </a:p>
        </p:txBody>
      </p:sp>
      <p:sp>
        <p:nvSpPr>
          <p:cNvPr id="15" name="TextBox 14"/>
          <p:cNvSpPr txBox="1"/>
          <p:nvPr/>
        </p:nvSpPr>
        <p:spPr>
          <a:xfrm>
            <a:off x="6995160" y="4800600"/>
            <a:ext cx="4754880" cy="1554480"/>
          </a:xfrm>
          <a:prstGeom prst="rect">
            <a:avLst/>
          </a:prstGeom>
          <a:noFill/>
        </p:spPr>
        <p:txBody>
          <a:bodyPr wrap="square" anchor="t" lIns="45720" rIns="45720">
            <a:spAutoFit/>
          </a:bodyPr>
          <a:lstStyle/>
          <a:p>
            <a:pPr algn="l">
              <a:spcAft>
                <a:spcPts val="600"/>
              </a:spcAft>
            </a:pPr>
            <a:r>
              <a:rPr sz="1250" b="0">
                <a:solidFill>
                  <a:srgbClr val="111827"/>
                </a:solidFill>
                <a:latin typeface="Calibri"/>
              </a:rPr>
              <a:t>En backtest, la détection tient ses objectifs. Ce qui reste incertain : (1) qu'elle les tienne en réel, sur des crises que le modèle n'a jamais vues ; (2) qu'un gérant change vraiment sa décision grâce à la note de comité. Aucun test utilisateur n'a encore eu lieu : c'est le cœur du J3.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Exigences : ce que nous ferons… et ce que nous ne ferons pas</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9</a:t>
            </a:r>
          </a:p>
        </p:txBody>
      </p:sp>
      <p:sp>
        <p:nvSpPr>
          <p:cNvPr id="7" name="Rounded Rectangle 6"/>
          <p:cNvSpPr/>
          <p:nvPr/>
        </p:nvSpPr>
        <p:spPr>
          <a:xfrm>
            <a:off x="10561320" y="256032"/>
            <a:ext cx="1463040" cy="384048"/>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Amine · 60s</a:t>
            </a:r>
          </a:p>
        </p:txBody>
      </p:sp>
      <p:sp>
        <p:nvSpPr>
          <p:cNvPr id="8" name="Rectangle 7"/>
          <p:cNvSpPr/>
          <p:nvPr/>
        </p:nvSpPr>
        <p:spPr>
          <a:xfrm>
            <a:off x="320040" y="1143000"/>
            <a:ext cx="2816352" cy="5486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143000"/>
            <a:ext cx="2816352" cy="548640"/>
          </a:xfrm>
          <a:prstGeom prst="rect">
            <a:avLst/>
          </a:prstGeom>
          <a:noFill/>
        </p:spPr>
        <p:txBody>
          <a:bodyPr wrap="square" anchor="ctr" lIns="45720" rIns="45720">
            <a:spAutoFit/>
          </a:bodyPr>
          <a:lstStyle/>
          <a:p>
            <a:pPr algn="ctr">
              <a:spcAft>
                <a:spcPts val="600"/>
              </a:spcAft>
            </a:pPr>
            <a:r>
              <a:rPr sz="1800" b="1">
                <a:solidFill>
                  <a:srgbClr val="FFFFFF"/>
                </a:solidFill>
                <a:latin typeface="Calibri"/>
              </a:rPr>
              <a:t>Must have (8)</a:t>
            </a:r>
          </a:p>
        </p:txBody>
      </p:sp>
      <p:sp>
        <p:nvSpPr>
          <p:cNvPr id="10" name="Rectangle 9"/>
          <p:cNvSpPr/>
          <p:nvPr/>
        </p:nvSpPr>
        <p:spPr>
          <a:xfrm>
            <a:off x="320040" y="1691640"/>
            <a:ext cx="2816352" cy="41605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801368"/>
            <a:ext cx="2633472" cy="4023360"/>
          </a:xfrm>
          <a:prstGeom prst="rect">
            <a:avLst/>
          </a:prstGeom>
          <a:noFill/>
        </p:spPr>
        <p:txBody>
          <a:bodyPr wrap="square" anchor="t" lIns="45720" rIns="45720">
            <a:spAutoFit/>
          </a:bodyPr>
          <a:lstStyle/>
          <a:p>
            <a:pPr algn="l">
              <a:spcAft>
                <a:spcPts val="800"/>
              </a:spcAft>
            </a:pPr>
            <a:r>
              <a:rPr sz="1300" b="0">
                <a:solidFill>
                  <a:srgbClr val="111827"/>
                </a:solidFill>
                <a:latin typeface="Calibri"/>
              </a:rPr>
              <a:t>✓ Données point-in-time, licences vérifiées</a:t>
            </a:r>
          </a:p>
          <a:p>
            <a:pPr algn="l">
              <a:spcAft>
                <a:spcPts val="800"/>
              </a:spcAft>
            </a:pPr>
            <a:r>
              <a:rPr sz="1300" b="0">
                <a:solidFill>
                  <a:srgbClr val="111827"/>
                </a:solidFill>
                <a:latin typeface="Calibri"/>
              </a:rPr>
              <a:t>✓ 4 régimes sur 3 dimensions + jump model</a:t>
            </a:r>
          </a:p>
          <a:p>
            <a:pPr algn="l">
              <a:spcAft>
                <a:spcPts val="800"/>
              </a:spcAft>
            </a:pPr>
            <a:r>
              <a:rPr sz="1300" b="0">
                <a:solidFill>
                  <a:srgbClr val="111827"/>
                </a:solidFill>
                <a:latin typeface="Calibri"/>
              </a:rPr>
              <a:t>✓ Détecteur de stress v2 pré-enregistré</a:t>
            </a:r>
          </a:p>
          <a:p>
            <a:pPr algn="l">
              <a:spcAft>
                <a:spcPts val="800"/>
              </a:spcAft>
            </a:pPr>
            <a:r>
              <a:rPr sz="1300" b="0">
                <a:solidFill>
                  <a:srgbClr val="111827"/>
                </a:solidFill>
                <a:latin typeface="Calibri"/>
              </a:rPr>
              <a:t>✓ Probabilité de stress calibrée</a:t>
            </a:r>
          </a:p>
          <a:p>
            <a:pPr algn="l">
              <a:spcAft>
                <a:spcPts val="800"/>
              </a:spcAft>
            </a:pPr>
            <a:r>
              <a:rPr sz="1300" b="0">
                <a:solidFill>
                  <a:srgbClr val="111827"/>
                </a:solidFill>
                <a:latin typeface="Calibri"/>
              </a:rPr>
              <a:t>✓ Explication du signal</a:t>
            </a:r>
          </a:p>
          <a:p>
            <a:pPr algn="l">
              <a:spcAft>
                <a:spcPts val="800"/>
              </a:spcAft>
            </a:pPr>
            <a:r>
              <a:rPr sz="1300" b="0">
                <a:solidFill>
                  <a:srgbClr val="111827"/>
                </a:solidFill>
                <a:latin typeface="Calibri"/>
              </a:rPr>
              <a:t>✓ Note de comité PDF, FR / EN</a:t>
            </a:r>
          </a:p>
          <a:p>
            <a:pPr algn="l">
              <a:spcAft>
                <a:spcPts val="800"/>
              </a:spcAft>
            </a:pPr>
            <a:r>
              <a:rPr sz="1300" b="0">
                <a:solidFill>
                  <a:srgbClr val="111827"/>
                </a:solidFill>
                <a:latin typeface="Calibri"/>
              </a:rPr>
              <a:t>✓ Track record public horodaté</a:t>
            </a:r>
          </a:p>
          <a:p>
            <a:pPr algn="l">
              <a:spcAft>
                <a:spcPts val="800"/>
              </a:spcAft>
            </a:pPr>
            <a:r>
              <a:rPr sz="1300" b="0">
                <a:solidFill>
                  <a:srgbClr val="111827"/>
                </a:solidFill>
                <a:latin typeface="Calibri"/>
              </a:rPr>
              <a:t>☐ Tests avec ≥ 3 gérants (J3)</a:t>
            </a:r>
          </a:p>
        </p:txBody>
      </p:sp>
      <p:sp>
        <p:nvSpPr>
          <p:cNvPr id="12" name="Rectangle 11"/>
          <p:cNvSpPr/>
          <p:nvPr/>
        </p:nvSpPr>
        <p:spPr>
          <a:xfrm>
            <a:off x="3227832" y="1143000"/>
            <a:ext cx="2816352" cy="54864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27832" y="1143000"/>
            <a:ext cx="2816352" cy="548640"/>
          </a:xfrm>
          <a:prstGeom prst="rect">
            <a:avLst/>
          </a:prstGeom>
          <a:noFill/>
        </p:spPr>
        <p:txBody>
          <a:bodyPr wrap="square" anchor="ctr" lIns="45720" rIns="45720">
            <a:spAutoFit/>
          </a:bodyPr>
          <a:lstStyle/>
          <a:p>
            <a:pPr algn="ctr">
              <a:spcAft>
                <a:spcPts val="600"/>
              </a:spcAft>
            </a:pPr>
            <a:r>
              <a:rPr sz="1800" b="1">
                <a:solidFill>
                  <a:srgbClr val="FFFFFF"/>
                </a:solidFill>
                <a:latin typeface="Calibri"/>
              </a:rPr>
              <a:t>Should have (5)</a:t>
            </a:r>
          </a:p>
        </p:txBody>
      </p:sp>
      <p:sp>
        <p:nvSpPr>
          <p:cNvPr id="14" name="Rectangle 13"/>
          <p:cNvSpPr/>
          <p:nvPr/>
        </p:nvSpPr>
        <p:spPr>
          <a:xfrm>
            <a:off x="3227832" y="1691640"/>
            <a:ext cx="2816352" cy="41605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19272" y="1801368"/>
            <a:ext cx="2633472" cy="4023360"/>
          </a:xfrm>
          <a:prstGeom prst="rect">
            <a:avLst/>
          </a:prstGeom>
          <a:noFill/>
        </p:spPr>
        <p:txBody>
          <a:bodyPr wrap="square" anchor="t" lIns="45720" rIns="45720">
            <a:spAutoFit/>
          </a:bodyPr>
          <a:lstStyle/>
          <a:p>
            <a:pPr algn="l">
              <a:spcAft>
                <a:spcPts val="800"/>
              </a:spcAft>
            </a:pPr>
            <a:r>
              <a:rPr sz="1300" b="0">
                <a:solidFill>
                  <a:srgbClr val="111827"/>
                </a:solidFill>
                <a:latin typeface="Calibri"/>
              </a:rPr>
              <a:t>◐ Ralentissement fiable (0,492 auj.)</a:t>
            </a:r>
          </a:p>
          <a:p>
            <a:pPr algn="l">
              <a:spcAft>
                <a:spcPts val="800"/>
              </a:spcAft>
            </a:pPr>
            <a:r>
              <a:rPr sz="1300" b="0">
                <a:solidFill>
                  <a:srgbClr val="111827"/>
                </a:solidFill>
                <a:latin typeface="Calibri"/>
              </a:rPr>
              <a:t>☐ Overlay de risque 60/40</a:t>
            </a:r>
          </a:p>
          <a:p>
            <a:pPr algn="l">
              <a:spcAft>
                <a:spcPts val="800"/>
              </a:spcAft>
            </a:pPr>
            <a:r>
              <a:rPr sz="1300" b="0">
                <a:solidFill>
                  <a:srgbClr val="111827"/>
                </a:solidFill>
                <a:latin typeface="Calibri"/>
              </a:rPr>
              <a:t>☐ Couche actualité en challenger</a:t>
            </a:r>
          </a:p>
          <a:p>
            <a:pPr algn="l">
              <a:spcAft>
                <a:spcPts val="800"/>
              </a:spcAft>
            </a:pPr>
            <a:r>
              <a:rPr sz="1300" b="0">
                <a:solidFill>
                  <a:srgbClr val="111827"/>
                </a:solidFill>
                <a:latin typeface="Calibri"/>
              </a:rPr>
              <a:t>✓ Alertes et scénarios de stress</a:t>
            </a:r>
          </a:p>
          <a:p>
            <a:pPr algn="l">
              <a:spcAft>
                <a:spcPts val="800"/>
              </a:spcAft>
            </a:pPr>
            <a:r>
              <a:rPr sz="1300" b="0">
                <a:solidFill>
                  <a:srgbClr val="111827"/>
                </a:solidFill>
                <a:latin typeface="Calibri"/>
              </a:rPr>
              <a:t>✓ API REST</a:t>
            </a:r>
          </a:p>
        </p:txBody>
      </p:sp>
      <p:sp>
        <p:nvSpPr>
          <p:cNvPr id="16" name="Rectangle 15"/>
          <p:cNvSpPr/>
          <p:nvPr/>
        </p:nvSpPr>
        <p:spPr>
          <a:xfrm>
            <a:off x="6135624" y="1143000"/>
            <a:ext cx="2816352" cy="54864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35624" y="1143000"/>
            <a:ext cx="2816352" cy="548640"/>
          </a:xfrm>
          <a:prstGeom prst="rect">
            <a:avLst/>
          </a:prstGeom>
          <a:noFill/>
        </p:spPr>
        <p:txBody>
          <a:bodyPr wrap="square" anchor="ctr" lIns="45720" rIns="45720">
            <a:spAutoFit/>
          </a:bodyPr>
          <a:lstStyle/>
          <a:p>
            <a:pPr algn="ctr">
              <a:spcAft>
                <a:spcPts val="600"/>
              </a:spcAft>
            </a:pPr>
            <a:r>
              <a:rPr sz="1800" b="1">
                <a:solidFill>
                  <a:srgbClr val="FFFFFF"/>
                </a:solidFill>
                <a:latin typeface="Calibri"/>
              </a:rPr>
              <a:t>Could have (4)</a:t>
            </a:r>
          </a:p>
        </p:txBody>
      </p:sp>
      <p:sp>
        <p:nvSpPr>
          <p:cNvPr id="18" name="Rectangle 17"/>
          <p:cNvSpPr/>
          <p:nvPr/>
        </p:nvSpPr>
        <p:spPr>
          <a:xfrm>
            <a:off x="6135624" y="1691640"/>
            <a:ext cx="2816352" cy="41605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27064" y="1801368"/>
            <a:ext cx="2633472" cy="4023360"/>
          </a:xfrm>
          <a:prstGeom prst="rect">
            <a:avLst/>
          </a:prstGeom>
          <a:noFill/>
        </p:spPr>
        <p:txBody>
          <a:bodyPr wrap="square" anchor="t" lIns="45720" rIns="45720">
            <a:spAutoFit/>
          </a:bodyPr>
          <a:lstStyle/>
          <a:p>
            <a:pPr algn="l">
              <a:spcAft>
                <a:spcPts val="800"/>
              </a:spcAft>
            </a:pPr>
            <a:r>
              <a:rPr sz="1300" b="0">
                <a:solidFill>
                  <a:srgbClr val="111827"/>
                </a:solidFill>
                <a:latin typeface="Calibri"/>
              </a:rPr>
              <a:t>✓ Zones UK, Japon, émergents (euro échouée)</a:t>
            </a:r>
          </a:p>
          <a:p>
            <a:pPr algn="l">
              <a:spcAft>
                <a:spcPts val="800"/>
              </a:spcAft>
            </a:pPr>
            <a:r>
              <a:rPr sz="1300" b="0">
                <a:solidFill>
                  <a:srgbClr val="111827"/>
                </a:solidFill>
                <a:latin typeface="Calibri"/>
              </a:rPr>
              <a:t>✓ Pages « Apprendre », carte mondiale</a:t>
            </a:r>
          </a:p>
          <a:p>
            <a:pPr algn="l">
              <a:spcAft>
                <a:spcPts val="800"/>
              </a:spcAft>
            </a:pPr>
            <a:r>
              <a:rPr sz="1300" b="0">
                <a:solidFill>
                  <a:srgbClr val="111827"/>
                </a:solidFill>
                <a:latin typeface="Calibri"/>
              </a:rPr>
              <a:t>☐ Tuteur IA GAMA</a:t>
            </a:r>
          </a:p>
          <a:p>
            <a:pPr algn="l">
              <a:spcAft>
                <a:spcPts val="800"/>
              </a:spcAft>
            </a:pPr>
            <a:r>
              <a:rPr sz="1300" b="0">
                <a:solidFill>
                  <a:srgbClr val="111827"/>
                </a:solidFill>
                <a:latin typeface="Calibri"/>
              </a:rPr>
              <a:t>✓ Rapport de thèse généré</a:t>
            </a:r>
          </a:p>
        </p:txBody>
      </p:sp>
      <p:sp>
        <p:nvSpPr>
          <p:cNvPr id="20" name="Rectangle 19"/>
          <p:cNvSpPr/>
          <p:nvPr/>
        </p:nvSpPr>
        <p:spPr>
          <a:xfrm>
            <a:off x="9043416" y="1143000"/>
            <a:ext cx="2816352" cy="5486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43416" y="1143000"/>
            <a:ext cx="2816352" cy="548640"/>
          </a:xfrm>
          <a:prstGeom prst="rect">
            <a:avLst/>
          </a:prstGeom>
          <a:noFill/>
        </p:spPr>
        <p:txBody>
          <a:bodyPr wrap="square" anchor="ctr" lIns="45720" rIns="45720">
            <a:spAutoFit/>
          </a:bodyPr>
          <a:lstStyle/>
          <a:p>
            <a:pPr algn="ctr">
              <a:spcAft>
                <a:spcPts val="600"/>
              </a:spcAft>
            </a:pPr>
            <a:r>
              <a:rPr sz="1800" b="1">
                <a:solidFill>
                  <a:srgbClr val="FFFFFF"/>
                </a:solidFill>
                <a:latin typeface="Calibri"/>
              </a:rPr>
              <a:t>Won't have (5)</a:t>
            </a:r>
          </a:p>
        </p:txBody>
      </p:sp>
      <p:sp>
        <p:nvSpPr>
          <p:cNvPr id="22" name="Rectangle 21"/>
          <p:cNvSpPr/>
          <p:nvPr/>
        </p:nvSpPr>
        <p:spPr>
          <a:xfrm>
            <a:off x="9043416" y="1691640"/>
            <a:ext cx="2816352" cy="41605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34856" y="1801368"/>
            <a:ext cx="2633472" cy="4023360"/>
          </a:xfrm>
          <a:prstGeom prst="rect">
            <a:avLst/>
          </a:prstGeom>
          <a:noFill/>
        </p:spPr>
        <p:txBody>
          <a:bodyPr wrap="square" anchor="t" lIns="45720" rIns="45720">
            <a:spAutoFit/>
          </a:bodyPr>
          <a:lstStyle/>
          <a:p>
            <a:pPr algn="l">
              <a:spcAft>
                <a:spcPts val="800"/>
              </a:spcAft>
            </a:pPr>
            <a:r>
              <a:rPr sz="1300" b="0">
                <a:solidFill>
                  <a:srgbClr val="111827"/>
                </a:solidFill>
                <a:latin typeface="Calibri"/>
              </a:rPr>
              <a:t>Signaux achat / vente (MiFID II)</a:t>
            </a:r>
          </a:p>
          <a:p>
            <a:pPr algn="l">
              <a:spcAft>
                <a:spcPts val="800"/>
              </a:spcAft>
            </a:pPr>
            <a:r>
              <a:rPr sz="1300" b="0">
                <a:solidFill>
                  <a:srgbClr val="111827"/>
                </a:solidFill>
                <a:latin typeface="Calibri"/>
              </a:rPr>
              <a:t>Vente / redistribution de données</a:t>
            </a:r>
          </a:p>
          <a:p>
            <a:pPr algn="l">
              <a:spcAft>
                <a:spcPts val="800"/>
              </a:spcAft>
            </a:pPr>
            <a:r>
              <a:rPr sz="1300" b="0">
                <a:solidFill>
                  <a:srgbClr val="111827"/>
                </a:solidFill>
                <a:latin typeface="Calibri"/>
              </a:rPr>
              <a:t>Deep learning, SOM, TDA (mémoire)</a:t>
            </a:r>
          </a:p>
          <a:p>
            <a:pPr algn="l">
              <a:spcAft>
                <a:spcPts val="800"/>
              </a:spcAft>
            </a:pPr>
            <a:r>
              <a:rPr sz="1300" b="0">
                <a:solidFill>
                  <a:srgbClr val="111827"/>
                </a:solidFill>
                <a:latin typeface="Calibri"/>
              </a:rPr>
              <a:t>Temps réel / intraday</a:t>
            </a:r>
          </a:p>
          <a:p>
            <a:pPr algn="l">
              <a:spcAft>
                <a:spcPts val="800"/>
              </a:spcAft>
            </a:pPr>
            <a:r>
              <a:rPr sz="1300" b="0">
                <a:solidFill>
                  <a:srgbClr val="111827"/>
                </a:solidFill>
                <a:latin typeface="Calibri"/>
              </a:rPr>
              <a:t>Comptes, paiement, app mobile</a:t>
            </a:r>
          </a:p>
        </p:txBody>
      </p:sp>
      <p:sp>
        <p:nvSpPr>
          <p:cNvPr id="24" name="TextBox 23"/>
          <p:cNvSpPr txBox="1"/>
          <p:nvPr/>
        </p:nvSpPr>
        <p:spPr>
          <a:xfrm>
            <a:off x="320040" y="5897880"/>
            <a:ext cx="11521440" cy="548640"/>
          </a:xfrm>
          <a:prstGeom prst="rect">
            <a:avLst/>
          </a:prstGeom>
          <a:noFill/>
        </p:spPr>
        <p:txBody>
          <a:bodyPr wrap="square" anchor="t" lIns="45720" rIns="45720">
            <a:spAutoFit/>
          </a:bodyPr>
          <a:lstStyle/>
          <a:p>
            <a:pPr algn="l">
              <a:spcAft>
                <a:spcPts val="600"/>
              </a:spcAft>
            </a:pPr>
            <a:r>
              <a:rPr sz="1250" b="1">
                <a:solidFill>
                  <a:srgbClr val="1F3A5F"/>
                </a:solidFill>
                <a:latin typeface="Calibri"/>
              </a:rPr>
              <a:t>✓ fait   ◐ en cours   ☐ à faire  (état au 21/10)  —  Écart assumé : des Could ont été construits avant des Should → gel des nouvelles fonctionnalités jusqu'aux tests.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Architecture de la solution</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10</a:t>
            </a:r>
          </a:p>
        </p:txBody>
      </p:sp>
      <p:sp>
        <p:nvSpPr>
          <p:cNvPr id="7" name="Rounded Rectangle 6"/>
          <p:cNvSpPr/>
          <p:nvPr/>
        </p:nvSpPr>
        <p:spPr>
          <a:xfrm>
            <a:off x="10561320" y="256032"/>
            <a:ext cx="1463040" cy="384048"/>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Axel · 45s</a:t>
            </a:r>
          </a:p>
        </p:txBody>
      </p:sp>
      <p:pic>
        <p:nvPicPr>
          <p:cNvPr id="8" name="Picture 7" descr="08_architecture.png"/>
          <p:cNvPicPr>
            <a:picLocks noChangeAspect="1"/>
          </p:cNvPicPr>
          <p:nvPr/>
        </p:nvPicPr>
        <p:blipFill>
          <a:blip r:embed="rId2"/>
          <a:stretch>
            <a:fillRect/>
          </a:stretch>
        </p:blipFill>
        <p:spPr>
          <a:xfrm>
            <a:off x="1024464" y="1051560"/>
            <a:ext cx="10112591" cy="53492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Arbre de choix n°1 : le détecteur de stress</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11</a:t>
            </a:r>
          </a:p>
        </p:txBody>
      </p:sp>
      <p:sp>
        <p:nvSpPr>
          <p:cNvPr id="7" name="Rounded Rectangle 6"/>
          <p:cNvSpPr/>
          <p:nvPr/>
        </p:nvSpPr>
        <p:spPr>
          <a:xfrm>
            <a:off x="10561320" y="256032"/>
            <a:ext cx="1463040" cy="384048"/>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Axel · 55s</a:t>
            </a:r>
          </a:p>
        </p:txBody>
      </p:sp>
      <p:pic>
        <p:nvPicPr>
          <p:cNvPr id="8" name="Picture 7" descr="10_arbre_detection.png"/>
          <p:cNvPicPr>
            <a:picLocks noChangeAspect="1"/>
          </p:cNvPicPr>
          <p:nvPr/>
        </p:nvPicPr>
        <p:blipFill>
          <a:blip r:embed="rId2"/>
          <a:stretch>
            <a:fillRect/>
          </a:stretch>
        </p:blipFill>
        <p:spPr>
          <a:xfrm>
            <a:off x="2150059" y="1051560"/>
            <a:ext cx="7861401" cy="534924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Arbre de choix n°2 : les sources de données</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12</a:t>
            </a:r>
          </a:p>
        </p:txBody>
      </p:sp>
      <p:sp>
        <p:nvSpPr>
          <p:cNvPr id="7" name="Rounded Rectangle 6"/>
          <p:cNvSpPr/>
          <p:nvPr/>
        </p:nvSpPr>
        <p:spPr>
          <a:xfrm>
            <a:off x="10561320" y="256032"/>
            <a:ext cx="1463040" cy="384048"/>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Gabriel · 25s</a:t>
            </a:r>
          </a:p>
        </p:txBody>
      </p:sp>
      <p:pic>
        <p:nvPicPr>
          <p:cNvPr id="8" name="Picture 7" descr="11_arbre_donnees.png"/>
          <p:cNvPicPr>
            <a:picLocks noChangeAspect="1"/>
          </p:cNvPicPr>
          <p:nvPr/>
        </p:nvPicPr>
        <p:blipFill>
          <a:blip r:embed="rId2"/>
          <a:stretch>
            <a:fillRect/>
          </a:stretch>
        </p:blipFill>
        <p:spPr>
          <a:xfrm>
            <a:off x="2147145" y="1051560"/>
            <a:ext cx="7867229" cy="534924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Analyse de risques : 7 risques suivis, 3 majeurs</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13</a:t>
            </a:r>
          </a:p>
        </p:txBody>
      </p:sp>
      <p:sp>
        <p:nvSpPr>
          <p:cNvPr id="7" name="Rounded Rectangle 6"/>
          <p:cNvSpPr/>
          <p:nvPr/>
        </p:nvSpPr>
        <p:spPr>
          <a:xfrm>
            <a:off x="10561320" y="256032"/>
            <a:ext cx="1463040" cy="384048"/>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Robin · 60s</a:t>
            </a:r>
          </a:p>
        </p:txBody>
      </p:sp>
      <p:pic>
        <p:nvPicPr>
          <p:cNvPr id="8" name="Picture 7" descr="13_risques.png"/>
          <p:cNvPicPr>
            <a:picLocks noChangeAspect="1"/>
          </p:cNvPicPr>
          <p:nvPr/>
        </p:nvPicPr>
        <p:blipFill>
          <a:blip r:embed="rId2"/>
          <a:stretch>
            <a:fillRect/>
          </a:stretch>
        </p:blipFill>
        <p:spPr>
          <a:xfrm>
            <a:off x="274320" y="2076796"/>
            <a:ext cx="4206240" cy="3253047"/>
          </a:xfrm>
          <a:prstGeom prst="rect">
            <a:avLst/>
          </a:prstGeom>
        </p:spPr>
      </p:pic>
      <p:sp>
        <p:nvSpPr>
          <p:cNvPr id="9" name="Rectangle 8"/>
          <p:cNvSpPr/>
          <p:nvPr/>
        </p:nvSpPr>
        <p:spPr>
          <a:xfrm>
            <a:off x="4663440" y="1143000"/>
            <a:ext cx="7223760" cy="16459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143000"/>
            <a:ext cx="822960" cy="16459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1143000"/>
            <a:ext cx="822960" cy="1645920"/>
          </a:xfrm>
          <a:prstGeom prst="rect">
            <a:avLst/>
          </a:prstGeom>
          <a:noFill/>
        </p:spPr>
        <p:txBody>
          <a:bodyPr wrap="square" anchor="ctr" lIns="45720" rIns="45720">
            <a:spAutoFit/>
          </a:bodyPr>
          <a:lstStyle/>
          <a:p>
            <a:pPr algn="ctr">
              <a:spcAft>
                <a:spcPts val="600"/>
              </a:spcAft>
            </a:pPr>
            <a:r>
              <a:rPr sz="2200" b="1">
                <a:solidFill>
                  <a:srgbClr val="FFFFFF"/>
                </a:solidFill>
                <a:latin typeface="Calibri"/>
              </a:rPr>
              <a:t>R1</a:t>
            </a:r>
          </a:p>
        </p:txBody>
      </p:sp>
      <p:sp>
        <p:nvSpPr>
          <p:cNvPr id="12" name="TextBox 11"/>
          <p:cNvSpPr txBox="1"/>
          <p:nvPr/>
        </p:nvSpPr>
        <p:spPr>
          <a:xfrm>
            <a:off x="5577840" y="1188720"/>
            <a:ext cx="6217920" cy="365760"/>
          </a:xfrm>
          <a:prstGeom prst="rect">
            <a:avLst/>
          </a:prstGeom>
          <a:noFill/>
        </p:spPr>
        <p:txBody>
          <a:bodyPr wrap="square" anchor="t" lIns="45720" rIns="45720">
            <a:spAutoFit/>
          </a:bodyPr>
          <a:lstStyle/>
          <a:p>
            <a:pPr algn="l">
              <a:spcAft>
                <a:spcPts val="600"/>
              </a:spcAft>
            </a:pPr>
            <a:r>
              <a:rPr sz="1300" b="1">
                <a:solidFill>
                  <a:srgbClr val="1F3A5F"/>
                </a:solidFill>
                <a:latin typeface="Calibri"/>
              </a:rPr>
              <a:t>Aucun test utilisateur fait : gérants indisponibles en novembre</a:t>
            </a:r>
          </a:p>
        </p:txBody>
      </p:sp>
      <p:sp>
        <p:nvSpPr>
          <p:cNvPr id="13" name="TextBox 12"/>
          <p:cNvSpPr txBox="1"/>
          <p:nvPr/>
        </p:nvSpPr>
        <p:spPr>
          <a:xfrm>
            <a:off x="5577840" y="1527048"/>
            <a:ext cx="6217920" cy="274320"/>
          </a:xfrm>
          <a:prstGeom prst="rect">
            <a:avLst/>
          </a:prstGeom>
          <a:noFill/>
        </p:spPr>
        <p:txBody>
          <a:bodyPr wrap="square" anchor="t" lIns="45720" rIns="45720">
            <a:spAutoFit/>
          </a:bodyPr>
          <a:lstStyle/>
          <a:p>
            <a:pPr algn="l">
              <a:spcAft>
                <a:spcPts val="600"/>
              </a:spcAft>
            </a:pPr>
            <a:r>
              <a:rPr sz="1050" b="0">
                <a:solidFill>
                  <a:srgbClr val="6B7280"/>
                </a:solidFill>
                <a:latin typeface="Calibri"/>
              </a:rPr>
              <a:t>Externe · Probabilité forte · Impact fort</a:t>
            </a:r>
          </a:p>
        </p:txBody>
      </p:sp>
      <p:sp>
        <p:nvSpPr>
          <p:cNvPr id="14" name="TextBox 13"/>
          <p:cNvSpPr txBox="1"/>
          <p:nvPr/>
        </p:nvSpPr>
        <p:spPr>
          <a:xfrm>
            <a:off x="5577840" y="1828800"/>
            <a:ext cx="6217920" cy="914400"/>
          </a:xfrm>
          <a:prstGeom prst="rect">
            <a:avLst/>
          </a:prstGeom>
          <a:noFill/>
        </p:spPr>
        <p:txBody>
          <a:bodyPr wrap="square" anchor="t" lIns="45720" rIns="45720">
            <a:spAutoFit/>
          </a:bodyPr>
          <a:lstStyle/>
          <a:p>
            <a:pPr algn="l">
              <a:spcAft>
                <a:spcPts val="200"/>
              </a:spcAft>
            </a:pPr>
            <a:r>
              <a:rPr sz="1150" b="0">
                <a:solidFill>
                  <a:srgbClr val="111827"/>
                </a:solidFill>
                <a:latin typeface="Calibri"/>
              </a:rPr>
              <a:t>Sessions de 30 min planifiées dès le 09/11 sur la note de comité.</a:t>
            </a:r>
          </a:p>
          <a:p>
            <a:pPr algn="l">
              <a:spcAft>
                <a:spcPts val="200"/>
              </a:spcAft>
            </a:pPr>
            <a:r>
              <a:rPr sz="1150" b="0">
                <a:solidFill>
                  <a:srgbClr val="111827"/>
                </a:solidFill>
                <a:latin typeface="Calibri"/>
              </a:rPr>
              <a:t>Plan B : protocole asynchrone (vidéo + formulaire de 10 min), CGP, alumni ECE.</a:t>
            </a:r>
          </a:p>
          <a:p>
            <a:pPr algn="l">
              <a:spcAft>
                <a:spcPts val="200"/>
              </a:spcAft>
            </a:pPr>
            <a:r>
              <a:rPr sz="1150" b="0">
                <a:solidFill>
                  <a:srgbClr val="111827"/>
                </a:solidFill>
                <a:latin typeface="Calibri"/>
              </a:rPr>
              <a:t>Déclencheur : &lt; 3 sessions confirmées au 06/11</a:t>
            </a:r>
          </a:p>
        </p:txBody>
      </p:sp>
      <p:sp>
        <p:nvSpPr>
          <p:cNvPr id="15" name="Rectangle 14"/>
          <p:cNvSpPr/>
          <p:nvPr/>
        </p:nvSpPr>
        <p:spPr>
          <a:xfrm>
            <a:off x="4663440" y="2898648"/>
            <a:ext cx="7223760" cy="16459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63440" y="2898648"/>
            <a:ext cx="822960" cy="16459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40" y="2898648"/>
            <a:ext cx="822960" cy="1645920"/>
          </a:xfrm>
          <a:prstGeom prst="rect">
            <a:avLst/>
          </a:prstGeom>
          <a:noFill/>
        </p:spPr>
        <p:txBody>
          <a:bodyPr wrap="square" anchor="ctr" lIns="45720" rIns="45720">
            <a:spAutoFit/>
          </a:bodyPr>
          <a:lstStyle/>
          <a:p>
            <a:pPr algn="ctr">
              <a:spcAft>
                <a:spcPts val="600"/>
              </a:spcAft>
            </a:pPr>
            <a:r>
              <a:rPr sz="2200" b="1">
                <a:solidFill>
                  <a:srgbClr val="FFFFFF"/>
                </a:solidFill>
                <a:latin typeface="Calibri"/>
              </a:rPr>
              <a:t>R2</a:t>
            </a:r>
          </a:p>
        </p:txBody>
      </p:sp>
      <p:sp>
        <p:nvSpPr>
          <p:cNvPr id="18" name="TextBox 17"/>
          <p:cNvSpPr txBox="1"/>
          <p:nvPr/>
        </p:nvSpPr>
        <p:spPr>
          <a:xfrm>
            <a:off x="5577840" y="2944368"/>
            <a:ext cx="6217920" cy="365760"/>
          </a:xfrm>
          <a:prstGeom prst="rect">
            <a:avLst/>
          </a:prstGeom>
          <a:noFill/>
        </p:spPr>
        <p:txBody>
          <a:bodyPr wrap="square" anchor="t" lIns="45720" rIns="45720">
            <a:spAutoFit/>
          </a:bodyPr>
          <a:lstStyle/>
          <a:p>
            <a:pPr algn="l">
              <a:spcAft>
                <a:spcPts val="600"/>
              </a:spcAft>
            </a:pPr>
            <a:r>
              <a:rPr sz="1300" b="1">
                <a:solidFill>
                  <a:srgbClr val="1F3A5F"/>
                </a:solidFill>
                <a:latin typeface="Calibri"/>
              </a:rPr>
              <a:t>En réel, plus de 1,5 fausse alerte par an (1,26 en backtest)</a:t>
            </a:r>
          </a:p>
        </p:txBody>
      </p:sp>
      <p:sp>
        <p:nvSpPr>
          <p:cNvPr id="19" name="TextBox 18"/>
          <p:cNvSpPr txBox="1"/>
          <p:nvPr/>
        </p:nvSpPr>
        <p:spPr>
          <a:xfrm>
            <a:off x="5577840" y="3282696"/>
            <a:ext cx="6217920" cy="274320"/>
          </a:xfrm>
          <a:prstGeom prst="rect">
            <a:avLst/>
          </a:prstGeom>
          <a:noFill/>
        </p:spPr>
        <p:txBody>
          <a:bodyPr wrap="square" anchor="t" lIns="45720" rIns="45720">
            <a:spAutoFit/>
          </a:bodyPr>
          <a:lstStyle/>
          <a:p>
            <a:pPr algn="l">
              <a:spcAft>
                <a:spcPts val="600"/>
              </a:spcAft>
            </a:pPr>
            <a:r>
              <a:rPr sz="1050" b="0">
                <a:solidFill>
                  <a:srgbClr val="6B7280"/>
                </a:solidFill>
                <a:latin typeface="Calibri"/>
              </a:rPr>
              <a:t>Technique · Probabilité moyenne · Impact fort</a:t>
            </a:r>
          </a:p>
        </p:txBody>
      </p:sp>
      <p:sp>
        <p:nvSpPr>
          <p:cNvPr id="20" name="TextBox 19"/>
          <p:cNvSpPr txBox="1"/>
          <p:nvPr/>
        </p:nvSpPr>
        <p:spPr>
          <a:xfrm>
            <a:off x="5577840" y="3584448"/>
            <a:ext cx="6217920" cy="914400"/>
          </a:xfrm>
          <a:prstGeom prst="rect">
            <a:avLst/>
          </a:prstGeom>
          <a:noFill/>
        </p:spPr>
        <p:txBody>
          <a:bodyPr wrap="square" anchor="t" lIns="45720" rIns="45720">
            <a:spAutoFit/>
          </a:bodyPr>
          <a:lstStyle/>
          <a:p>
            <a:pPr algn="l">
              <a:spcAft>
                <a:spcPts val="200"/>
              </a:spcAft>
            </a:pPr>
            <a:r>
              <a:rPr sz="1150" b="0">
                <a:solidFill>
                  <a:srgbClr val="111827"/>
                </a:solidFill>
                <a:latin typeface="Calibri"/>
              </a:rPr>
              <a:t>Règle pré-enregistrée, jamais retouchée ; challengers publiés en live.</a:t>
            </a:r>
          </a:p>
          <a:p>
            <a:pPr algn="l">
              <a:spcAft>
                <a:spcPts val="200"/>
              </a:spcAft>
            </a:pPr>
            <a:r>
              <a:rPr sz="1150" b="0">
                <a:solidFill>
                  <a:srgbClr val="111827"/>
                </a:solidFill>
                <a:latin typeface="Calibri"/>
              </a:rPr>
              <a:t>Plan B écrit : détecteur v1 (0,17 fausse alerte/an, 11 j de latence).</a:t>
            </a:r>
          </a:p>
          <a:p>
            <a:pPr algn="l">
              <a:spcAft>
                <a:spcPts val="200"/>
              </a:spcAft>
            </a:pPr>
            <a:r>
              <a:rPr sz="1150" b="0">
                <a:solidFill>
                  <a:srgbClr val="111827"/>
                </a:solidFill>
                <a:latin typeface="Calibri"/>
              </a:rPr>
              <a:t>Déclencheur : 2 fausses alertes dans le track record live</a:t>
            </a:r>
          </a:p>
        </p:txBody>
      </p:sp>
      <p:sp>
        <p:nvSpPr>
          <p:cNvPr id="21" name="Rectangle 20"/>
          <p:cNvSpPr/>
          <p:nvPr/>
        </p:nvSpPr>
        <p:spPr>
          <a:xfrm>
            <a:off x="4663440" y="4654296"/>
            <a:ext cx="7223760" cy="16459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63440" y="4654296"/>
            <a:ext cx="822960" cy="16459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4654296"/>
            <a:ext cx="822960" cy="1645920"/>
          </a:xfrm>
          <a:prstGeom prst="rect">
            <a:avLst/>
          </a:prstGeom>
          <a:noFill/>
        </p:spPr>
        <p:txBody>
          <a:bodyPr wrap="square" anchor="ctr" lIns="45720" rIns="45720">
            <a:spAutoFit/>
          </a:bodyPr>
          <a:lstStyle/>
          <a:p>
            <a:pPr algn="ctr">
              <a:spcAft>
                <a:spcPts val="600"/>
              </a:spcAft>
            </a:pPr>
            <a:r>
              <a:rPr sz="2200" b="1">
                <a:solidFill>
                  <a:srgbClr val="FFFFFF"/>
                </a:solidFill>
                <a:latin typeface="Calibri"/>
              </a:rPr>
              <a:t>R3</a:t>
            </a:r>
          </a:p>
        </p:txBody>
      </p:sp>
      <p:sp>
        <p:nvSpPr>
          <p:cNvPr id="24" name="TextBox 23"/>
          <p:cNvSpPr txBox="1"/>
          <p:nvPr/>
        </p:nvSpPr>
        <p:spPr>
          <a:xfrm>
            <a:off x="5577840" y="4700016"/>
            <a:ext cx="6217920" cy="365760"/>
          </a:xfrm>
          <a:prstGeom prst="rect">
            <a:avLst/>
          </a:prstGeom>
          <a:noFill/>
        </p:spPr>
        <p:txBody>
          <a:bodyPr wrap="square" anchor="t" lIns="45720" rIns="45720">
            <a:spAutoFit/>
          </a:bodyPr>
          <a:lstStyle/>
          <a:p>
            <a:pPr algn="l">
              <a:spcAft>
                <a:spcPts val="600"/>
              </a:spcAft>
            </a:pPr>
            <a:r>
              <a:rPr sz="1300" b="1">
                <a:solidFill>
                  <a:srgbClr val="1F3A5F"/>
                </a:solidFill>
                <a:latin typeface="Calibri"/>
              </a:rPr>
              <a:t>Code écrit en grande partie avec un assistant IA : les 5 doivent le défendre</a:t>
            </a:r>
          </a:p>
        </p:txBody>
      </p:sp>
      <p:sp>
        <p:nvSpPr>
          <p:cNvPr id="25" name="TextBox 24"/>
          <p:cNvSpPr txBox="1"/>
          <p:nvPr/>
        </p:nvSpPr>
        <p:spPr>
          <a:xfrm>
            <a:off x="5577840" y="5038344"/>
            <a:ext cx="6217920" cy="274320"/>
          </a:xfrm>
          <a:prstGeom prst="rect">
            <a:avLst/>
          </a:prstGeom>
          <a:noFill/>
        </p:spPr>
        <p:txBody>
          <a:bodyPr wrap="square" anchor="t" lIns="45720" rIns="45720">
            <a:spAutoFit/>
          </a:bodyPr>
          <a:lstStyle/>
          <a:p>
            <a:pPr algn="l">
              <a:spcAft>
                <a:spcPts val="600"/>
              </a:spcAft>
            </a:pPr>
            <a:r>
              <a:rPr sz="1050" b="0">
                <a:solidFill>
                  <a:srgbClr val="6B7280"/>
                </a:solidFill>
                <a:latin typeface="Calibri"/>
              </a:rPr>
              <a:t>Organisationnel · Probabilité forte · Impact fort</a:t>
            </a:r>
          </a:p>
        </p:txBody>
      </p:sp>
      <p:sp>
        <p:nvSpPr>
          <p:cNvPr id="26" name="TextBox 25"/>
          <p:cNvSpPr txBox="1"/>
          <p:nvPr/>
        </p:nvSpPr>
        <p:spPr>
          <a:xfrm>
            <a:off x="5577840" y="5340096"/>
            <a:ext cx="6217920" cy="914400"/>
          </a:xfrm>
          <a:prstGeom prst="rect">
            <a:avLst/>
          </a:prstGeom>
          <a:noFill/>
        </p:spPr>
        <p:txBody>
          <a:bodyPr wrap="square" anchor="t" lIns="45720" rIns="45720">
            <a:spAutoFit/>
          </a:bodyPr>
          <a:lstStyle/>
          <a:p>
            <a:pPr algn="l">
              <a:spcAft>
                <a:spcPts val="200"/>
              </a:spcAft>
            </a:pPr>
            <a:r>
              <a:rPr sz="1150" b="0">
                <a:solidFill>
                  <a:srgbClr val="111827"/>
                </a:solidFill>
                <a:latin typeface="Calibri"/>
              </a:rPr>
              <a:t>Un module « propriétaire » par membre, présenté aux autres en 15 min.</a:t>
            </a:r>
          </a:p>
          <a:p>
            <a:pPr algn="l">
              <a:spcAft>
                <a:spcPts val="200"/>
              </a:spcAft>
            </a:pPr>
            <a:r>
              <a:rPr sz="1150" b="0">
                <a:solidFill>
                  <a:srgbClr val="111827"/>
                </a:solidFill>
                <a:latin typeface="Calibri"/>
              </a:rPr>
              <a:t>Revue de code obligatoire, répétition des questions techniques.</a:t>
            </a:r>
          </a:p>
          <a:p>
            <a:pPr algn="l">
              <a:spcAft>
                <a:spcPts val="200"/>
              </a:spcAft>
            </a:pPr>
            <a:r>
              <a:rPr sz="1150" b="0">
                <a:solidFill>
                  <a:srgbClr val="111827"/>
                </a:solidFill>
                <a:latin typeface="Calibri"/>
              </a:rPr>
              <a:t>Déclencheur : un membre ne sait pas expliquer son module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Prochaines étapes et retours attendus</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14</a:t>
            </a:r>
          </a:p>
        </p:txBody>
      </p:sp>
      <p:sp>
        <p:nvSpPr>
          <p:cNvPr id="7" name="Rounded Rectangle 6"/>
          <p:cNvSpPr/>
          <p:nvPr/>
        </p:nvSpPr>
        <p:spPr>
          <a:xfrm>
            <a:off x="10561320" y="256032"/>
            <a:ext cx="1463040" cy="384048"/>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Titouan · 30s</a:t>
            </a:r>
          </a:p>
        </p:txBody>
      </p:sp>
      <p:pic>
        <p:nvPicPr>
          <p:cNvPr id="8" name="Picture 7" descr="14_planning.png"/>
          <p:cNvPicPr>
            <a:picLocks noChangeAspect="1"/>
          </p:cNvPicPr>
          <p:nvPr/>
        </p:nvPicPr>
        <p:blipFill>
          <a:blip r:embed="rId2"/>
          <a:stretch>
            <a:fillRect/>
          </a:stretch>
        </p:blipFill>
        <p:spPr>
          <a:xfrm>
            <a:off x="274320" y="1566143"/>
            <a:ext cx="7680960" cy="2628433"/>
          </a:xfrm>
          <a:prstGeom prst="rect">
            <a:avLst/>
          </a:prstGeom>
        </p:spPr>
      </p:pic>
      <p:sp>
        <p:nvSpPr>
          <p:cNvPr id="9" name="Rectangle 8"/>
          <p:cNvSpPr/>
          <p:nvPr/>
        </p:nvSpPr>
        <p:spPr>
          <a:xfrm>
            <a:off x="8138160" y="1188720"/>
            <a:ext cx="3749039" cy="33832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1280160"/>
            <a:ext cx="3474720" cy="457200"/>
          </a:xfrm>
          <a:prstGeom prst="rect">
            <a:avLst/>
          </a:prstGeom>
          <a:noFill/>
        </p:spPr>
        <p:txBody>
          <a:bodyPr wrap="square" anchor="t" lIns="45720" rIns="45720">
            <a:spAutoFit/>
          </a:bodyPr>
          <a:lstStyle/>
          <a:p>
            <a:pPr algn="l">
              <a:spcAft>
                <a:spcPts val="600"/>
              </a:spcAft>
            </a:pPr>
            <a:r>
              <a:rPr sz="1300" b="1">
                <a:solidFill>
                  <a:srgbClr val="E9C46A"/>
                </a:solidFill>
                <a:latin typeface="Calibri"/>
              </a:rPr>
              <a:t>EN RÉSUMÉ</a:t>
            </a:r>
          </a:p>
        </p:txBody>
      </p:sp>
      <p:sp>
        <p:nvSpPr>
          <p:cNvPr id="11" name="TextBox 10"/>
          <p:cNvSpPr txBox="1"/>
          <p:nvPr/>
        </p:nvSpPr>
        <p:spPr>
          <a:xfrm>
            <a:off x="8321040" y="1691640"/>
            <a:ext cx="3474720" cy="2834640"/>
          </a:xfrm>
          <a:prstGeom prst="rect">
            <a:avLst/>
          </a:prstGeom>
          <a:noFill/>
        </p:spPr>
        <p:txBody>
          <a:bodyPr wrap="square" anchor="t" lIns="45720" rIns="45720">
            <a:spAutoFit/>
          </a:bodyPr>
          <a:lstStyle/>
          <a:p>
            <a:pPr algn="l">
              <a:spcAft>
                <a:spcPts val="1200"/>
              </a:spcAft>
            </a:pPr>
            <a:r>
              <a:rPr sz="1400" b="0">
                <a:solidFill>
                  <a:srgbClr val="FFFFFF"/>
                </a:solidFill>
                <a:latin typeface="Calibri"/>
              </a:rPr>
              <a:t>• Besoin confirmé par 13 entretiens + 54 réponses</a:t>
            </a:r>
          </a:p>
          <a:p>
            <a:pPr algn="l">
              <a:spcAft>
                <a:spcPts val="1200"/>
              </a:spcAft>
            </a:pPr>
            <a:r>
              <a:rPr sz="1400" b="0">
                <a:solidFill>
                  <a:srgbClr val="FFFFFF"/>
                </a:solidFill>
                <a:latin typeface="Calibri"/>
              </a:rPr>
              <a:t>• Choix tracés par 4 arbres et des protocoles pré-enregistrés</a:t>
            </a:r>
          </a:p>
          <a:p>
            <a:pPr algn="l">
              <a:spcAft>
                <a:spcPts val="1200"/>
              </a:spcAft>
            </a:pPr>
            <a:r>
              <a:rPr sz="1400" b="0">
                <a:solidFill>
                  <a:srgbClr val="FFFFFF"/>
                </a:solidFill>
                <a:latin typeface="Calibri"/>
              </a:rPr>
              <a:t>• 7 risques, chacun avec un plan B et un déclencheur</a:t>
            </a:r>
          </a:p>
        </p:txBody>
      </p:sp>
      <p:sp>
        <p:nvSpPr>
          <p:cNvPr id="12" name="Rectangle 11"/>
          <p:cNvSpPr/>
          <p:nvPr/>
        </p:nvSpPr>
        <p:spPr>
          <a:xfrm>
            <a:off x="365760" y="4892040"/>
            <a:ext cx="11521440" cy="1417320"/>
          </a:xfrm>
          <a:prstGeom prst="rect">
            <a:avLst/>
          </a:prstGeom>
          <a:solidFill>
            <a:srgbClr val="FEF3C7"/>
          </a:solidFill>
          <a:ln>
            <a:solidFill>
              <a:srgbClr val="E76F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956048"/>
            <a:ext cx="11155680" cy="365760"/>
          </a:xfrm>
          <a:prstGeom prst="rect">
            <a:avLst/>
          </a:prstGeom>
          <a:noFill/>
        </p:spPr>
        <p:txBody>
          <a:bodyPr wrap="square" anchor="t" lIns="45720" rIns="45720">
            <a:spAutoFit/>
          </a:bodyPr>
          <a:lstStyle/>
          <a:p>
            <a:pPr algn="l">
              <a:spcAft>
                <a:spcPts val="600"/>
              </a:spcAft>
            </a:pPr>
            <a:r>
              <a:rPr sz="1300" b="1">
                <a:solidFill>
                  <a:srgbClr val="E76F51"/>
                </a:solidFill>
                <a:latin typeface="Calibri"/>
              </a:rPr>
              <a:t>VOS RETOURS NOUS INTÉRESSENT SUR :</a:t>
            </a:r>
          </a:p>
        </p:txBody>
      </p:sp>
      <p:sp>
        <p:nvSpPr>
          <p:cNvPr id="14" name="TextBox 13"/>
          <p:cNvSpPr txBox="1"/>
          <p:nvPr/>
        </p:nvSpPr>
        <p:spPr>
          <a:xfrm>
            <a:off x="548640" y="5303520"/>
            <a:ext cx="11155680" cy="1005840"/>
          </a:xfrm>
          <a:prstGeom prst="rect">
            <a:avLst/>
          </a:prstGeom>
          <a:noFill/>
        </p:spPr>
        <p:txBody>
          <a:bodyPr wrap="square" anchor="t" lIns="45720" rIns="45720">
            <a:spAutoFit/>
          </a:bodyPr>
          <a:lstStyle/>
          <a:p>
            <a:pPr algn="l">
              <a:spcAft>
                <a:spcPts val="600"/>
              </a:spcAft>
            </a:pPr>
            <a:r>
              <a:rPr sz="1400" b="0">
                <a:solidFill>
                  <a:srgbClr val="111827"/>
                </a:solidFill>
                <a:latin typeface="Calibri"/>
              </a:rPr>
              <a:t>• Une fausse alerte par an est-elle acceptable pour un gérant ?</a:t>
            </a:r>
          </a:p>
          <a:p>
            <a:pPr algn="l">
              <a:spcAft>
                <a:spcPts val="600"/>
              </a:spcAft>
            </a:pPr>
            <a:r>
              <a:rPr sz="1400" b="0">
                <a:solidFill>
                  <a:srgbClr val="111827"/>
                </a:solidFill>
                <a:latin typeface="Calibri"/>
              </a:rPr>
              <a:t>• Notre protocole de test utilisateur (30 min sur la note de comité) est-il assez exigeant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0"/>
            <a:ext cx="10515600" cy="1097280"/>
          </a:xfrm>
          <a:prstGeom prst="rect">
            <a:avLst/>
          </a:prstGeom>
          <a:noFill/>
        </p:spPr>
        <p:txBody>
          <a:bodyPr wrap="square" anchor="t" lIns="45720" rIns="45720">
            <a:spAutoFit/>
          </a:bodyPr>
          <a:lstStyle/>
          <a:p>
            <a:pPr algn="l">
              <a:spcAft>
                <a:spcPts val="600"/>
              </a:spcAft>
            </a:pPr>
            <a:r>
              <a:rPr sz="4400" b="1">
                <a:solidFill>
                  <a:srgbClr val="FFFFFF"/>
                </a:solidFill>
                <a:latin typeface="Calibri"/>
              </a:rPr>
              <a:t>Merci — vos questions</a:t>
            </a:r>
          </a:p>
        </p:txBody>
      </p:sp>
      <p:sp>
        <p:nvSpPr>
          <p:cNvPr id="4" name="TextBox 3"/>
          <p:cNvSpPr txBox="1"/>
          <p:nvPr/>
        </p:nvSpPr>
        <p:spPr>
          <a:xfrm>
            <a:off x="731520" y="3566160"/>
            <a:ext cx="10515600" cy="731520"/>
          </a:xfrm>
          <a:prstGeom prst="rect">
            <a:avLst/>
          </a:prstGeom>
          <a:noFill/>
        </p:spPr>
        <p:txBody>
          <a:bodyPr wrap="square" anchor="t" lIns="45720" rIns="45720">
            <a:spAutoFit/>
          </a:bodyPr>
          <a:lstStyle/>
          <a:p>
            <a:pPr algn="l">
              <a:spcAft>
                <a:spcPts val="600"/>
              </a:spcAft>
            </a:pPr>
            <a:r>
              <a:rPr sz="1600" b="0">
                <a:solidFill>
                  <a:srgbClr val="E9C46A"/>
                </a:solidFill>
                <a:latin typeface="Calibri"/>
              </a:rPr>
              <a:t>Annexes : latence par épisode, arbres n°3 et n°4, arbre actualité, marché, prix, risques détaillés, critères de succès, budget, état du code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Annexe — Latence par épisode réel (v1 contre v2)</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16</a:t>
            </a:r>
          </a:p>
        </p:txBody>
      </p:sp>
      <p:pic>
        <p:nvPicPr>
          <p:cNvPr id="7" name="Picture 6" descr="16_latence_episodes.png"/>
          <p:cNvPicPr>
            <a:picLocks noChangeAspect="1"/>
          </p:cNvPicPr>
          <p:nvPr/>
        </p:nvPicPr>
        <p:blipFill>
          <a:blip r:embed="rId2"/>
          <a:stretch>
            <a:fillRect/>
          </a:stretch>
        </p:blipFill>
        <p:spPr>
          <a:xfrm>
            <a:off x="274320" y="1483509"/>
            <a:ext cx="11612880" cy="4485341"/>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Annexe — Arbre n°3 : modèle des régimes</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17</a:t>
            </a:r>
          </a:p>
        </p:txBody>
      </p:sp>
      <p:pic>
        <p:nvPicPr>
          <p:cNvPr id="7" name="Picture 6" descr="12c_arbre_modele.png"/>
          <p:cNvPicPr>
            <a:picLocks noChangeAspect="1"/>
          </p:cNvPicPr>
          <p:nvPr/>
        </p:nvPicPr>
        <p:blipFill>
          <a:blip r:embed="rId2"/>
          <a:stretch>
            <a:fillRect/>
          </a:stretch>
        </p:blipFill>
        <p:spPr>
          <a:xfrm>
            <a:off x="2150059" y="1051560"/>
            <a:ext cx="7861401" cy="534924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Annexe — Arbre n°4 : publication et preuve</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18</a:t>
            </a:r>
          </a:p>
        </p:txBody>
      </p:sp>
      <p:pic>
        <p:nvPicPr>
          <p:cNvPr id="7" name="Picture 6" descr="12b_arbre_diffusion.png"/>
          <p:cNvPicPr>
            <a:picLocks noChangeAspect="1"/>
          </p:cNvPicPr>
          <p:nvPr/>
        </p:nvPicPr>
        <p:blipFill>
          <a:blip r:embed="rId2"/>
          <a:stretch>
            <a:fillRect/>
          </a:stretch>
        </p:blipFill>
        <p:spPr>
          <a:xfrm>
            <a:off x="2147145" y="1051560"/>
            <a:ext cx="7867229" cy="534924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Annexe — Arbre prévu en Phase 3 : actualité</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19</a:t>
            </a:r>
          </a:p>
        </p:txBody>
      </p:sp>
      <p:pic>
        <p:nvPicPr>
          <p:cNvPr id="7" name="Picture 6" descr="12a_arbre_news.png"/>
          <p:cNvPicPr>
            <a:picLocks noChangeAspect="1"/>
          </p:cNvPicPr>
          <p:nvPr/>
        </p:nvPicPr>
        <p:blipFill>
          <a:blip r:embed="rId2"/>
          <a:stretch>
            <a:fillRect/>
          </a:stretch>
        </p:blipFill>
        <p:spPr>
          <a:xfrm>
            <a:off x="2728570" y="1051560"/>
            <a:ext cx="6704380" cy="534924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Annexe — Taille du marché (TAM / SAM / SOM)</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20</a:t>
            </a:r>
          </a:p>
        </p:txBody>
      </p:sp>
      <p:pic>
        <p:nvPicPr>
          <p:cNvPr id="7" name="Picture 6" descr="05_marche.png"/>
          <p:cNvPicPr>
            <a:picLocks noChangeAspect="1"/>
          </p:cNvPicPr>
          <p:nvPr/>
        </p:nvPicPr>
        <p:blipFill>
          <a:blip r:embed="rId2"/>
          <a:stretch>
            <a:fillRect/>
          </a:stretch>
        </p:blipFill>
        <p:spPr>
          <a:xfrm>
            <a:off x="274320" y="1353716"/>
            <a:ext cx="11612880" cy="474492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Annexe — Prix acceptable et facteurs de confiance</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21</a:t>
            </a:r>
          </a:p>
        </p:txBody>
      </p:sp>
      <p:pic>
        <p:nvPicPr>
          <p:cNvPr id="7" name="Picture 6" descr="04_sondage_prix_confiance.png"/>
          <p:cNvPicPr>
            <a:picLocks noChangeAspect="1"/>
          </p:cNvPicPr>
          <p:nvPr/>
        </p:nvPicPr>
        <p:blipFill>
          <a:blip r:embed="rId2"/>
          <a:stretch>
            <a:fillRect/>
          </a:stretch>
        </p:blipFill>
        <p:spPr>
          <a:xfrm>
            <a:off x="274320" y="2062827"/>
            <a:ext cx="11612880" cy="3326705"/>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Annexe — Tableau complet des risques</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22</a:t>
            </a:r>
          </a:p>
        </p:txBody>
      </p:sp>
      <p:graphicFrame>
        <p:nvGraphicFramePr>
          <p:cNvPr id="7" name="Table 6"/>
          <p:cNvGraphicFramePr>
            <a:graphicFrameLocks noGrp="1"/>
          </p:cNvGraphicFramePr>
          <p:nvPr/>
        </p:nvGraphicFramePr>
        <p:xfrm>
          <a:off x="320040" y="1143000"/>
          <a:ext cx="11612880" cy="3657600"/>
        </p:xfrm>
        <a:graphic>
          <a:graphicData uri="http://schemas.openxmlformats.org/drawingml/2006/table">
            <a:tbl>
              <a:tblPr firstRow="1" bandRow="1">
                <a:tableStyleId>{5C22544A-7EE6-4342-B048-85BDC9FD1C3A}</a:tableStyleId>
              </a:tblPr>
              <a:tblGrid>
                <a:gridCol w="457200"/>
                <a:gridCol w="1097280"/>
                <a:gridCol w="2377440"/>
                <a:gridCol w="731520"/>
                <a:gridCol w="548640"/>
                <a:gridCol w="4480560"/>
                <a:gridCol w="1920240"/>
              </a:tblGrid>
              <a:tr h="457200">
                <a:tc>
                  <a:txBody>
                    <a:bodyPr/>
                    <a:lstStyle/>
                    <a:p>
                      <a:r>
                        <a:rPr sz="1000" b="1">
                          <a:solidFill>
                            <a:srgbClr val="FFFFFF"/>
                          </a:solidFill>
                        </a:rPr>
                        <a:t>ID</a:t>
                      </a:r>
                    </a:p>
                  </a:txBody>
                  <a:tcPr>
                    <a:solidFill>
                      <a:srgbClr val="1F3A5F"/>
                    </a:solidFill>
                  </a:tcPr>
                </a:tc>
                <a:tc>
                  <a:txBody>
                    <a:bodyPr/>
                    <a:lstStyle/>
                    <a:p>
                      <a:r>
                        <a:rPr sz="1000" b="1">
                          <a:solidFill>
                            <a:srgbClr val="FFFFFF"/>
                          </a:solidFill>
                        </a:rPr>
                        <a:t>Catégorie</a:t>
                      </a:r>
                    </a:p>
                  </a:txBody>
                  <a:tcPr>
                    <a:solidFill>
                      <a:srgbClr val="1F3A5F"/>
                    </a:solidFill>
                  </a:tcPr>
                </a:tc>
                <a:tc>
                  <a:txBody>
                    <a:bodyPr/>
                    <a:lstStyle/>
                    <a:p>
                      <a:r>
                        <a:rPr sz="1000" b="1">
                          <a:solidFill>
                            <a:srgbClr val="FFFFFF"/>
                          </a:solidFill>
                        </a:rPr>
                        <a:t>Risque</a:t>
                      </a:r>
                    </a:p>
                  </a:txBody>
                  <a:tcPr>
                    <a:solidFill>
                      <a:srgbClr val="1F3A5F"/>
                    </a:solidFill>
                  </a:tcPr>
                </a:tc>
                <a:tc>
                  <a:txBody>
                    <a:bodyPr/>
                    <a:lstStyle/>
                    <a:p>
                      <a:r>
                        <a:rPr sz="1000" b="1">
                          <a:solidFill>
                            <a:srgbClr val="FFFFFF"/>
                          </a:solidFill>
                        </a:rPr>
                        <a:t>P</a:t>
                      </a:r>
                    </a:p>
                  </a:txBody>
                  <a:tcPr>
                    <a:solidFill>
                      <a:srgbClr val="1F3A5F"/>
                    </a:solidFill>
                  </a:tcPr>
                </a:tc>
                <a:tc>
                  <a:txBody>
                    <a:bodyPr/>
                    <a:lstStyle/>
                    <a:p>
                      <a:r>
                        <a:rPr sz="1000" b="1">
                          <a:solidFill>
                            <a:srgbClr val="FFFFFF"/>
                          </a:solidFill>
                        </a:rPr>
                        <a:t>I</a:t>
                      </a:r>
                    </a:p>
                  </a:txBody>
                  <a:tcPr>
                    <a:solidFill>
                      <a:srgbClr val="1F3A5F"/>
                    </a:solidFill>
                  </a:tcPr>
                </a:tc>
                <a:tc>
                  <a:txBody>
                    <a:bodyPr/>
                    <a:lstStyle/>
                    <a:p>
                      <a:r>
                        <a:rPr sz="1000" b="1">
                          <a:solidFill>
                            <a:srgbClr val="FFFFFF"/>
                          </a:solidFill>
                        </a:rPr>
                        <a:t>Plan de mitigation</a:t>
                      </a:r>
                    </a:p>
                  </a:txBody>
                  <a:tcPr>
                    <a:solidFill>
                      <a:srgbClr val="1F3A5F"/>
                    </a:solidFill>
                  </a:tcPr>
                </a:tc>
                <a:tc>
                  <a:txBody>
                    <a:bodyPr/>
                    <a:lstStyle/>
                    <a:p>
                      <a:r>
                        <a:rPr sz="1000" b="1">
                          <a:solidFill>
                            <a:srgbClr val="FFFFFF"/>
                          </a:solidFill>
                        </a:rPr>
                        <a:t>Déclencheur</a:t>
                      </a:r>
                    </a:p>
                  </a:txBody>
                  <a:tcPr>
                    <a:solidFill>
                      <a:srgbClr val="1F3A5F"/>
                    </a:solidFill>
                  </a:tcPr>
                </a:tc>
              </a:tr>
              <a:tr h="457200">
                <a:tc>
                  <a:txBody>
                    <a:bodyPr/>
                    <a:lstStyle/>
                    <a:p>
                      <a:r>
                        <a:rPr sz="900">
                          <a:solidFill>
                            <a:srgbClr val="111827"/>
                          </a:solidFill>
                        </a:rPr>
                        <a:t>R1</a:t>
                      </a:r>
                    </a:p>
                  </a:txBody>
                  <a:tcPr>
                    <a:solidFill>
                      <a:srgbClr val="F3F4F6"/>
                    </a:solidFill>
                  </a:tcPr>
                </a:tc>
                <a:tc>
                  <a:txBody>
                    <a:bodyPr/>
                    <a:lstStyle/>
                    <a:p>
                      <a:r>
                        <a:rPr sz="900">
                          <a:solidFill>
                            <a:srgbClr val="111827"/>
                          </a:solidFill>
                        </a:rPr>
                        <a:t>Externe</a:t>
                      </a:r>
                    </a:p>
                  </a:txBody>
                  <a:tcPr>
                    <a:solidFill>
                      <a:srgbClr val="F3F4F6"/>
                    </a:solidFill>
                  </a:tcPr>
                </a:tc>
                <a:tc>
                  <a:txBody>
                    <a:bodyPr/>
                    <a:lstStyle/>
                    <a:p>
                      <a:r>
                        <a:rPr sz="900">
                          <a:solidFill>
                            <a:srgbClr val="111827"/>
                          </a:solidFill>
                        </a:rPr>
                        <a:t>Aucun test utilisateur réalisé : les gérants ne sont pas disponibles en novembre</a:t>
                      </a:r>
                    </a:p>
                  </a:txBody>
                  <a:tcPr>
                    <a:solidFill>
                      <a:srgbClr val="F3F4F6"/>
                    </a:solidFill>
                  </a:tcPr>
                </a:tc>
                <a:tc>
                  <a:txBody>
                    <a:bodyPr/>
                    <a:lstStyle/>
                    <a:p>
                      <a:r>
                        <a:rPr sz="900">
                          <a:solidFill>
                            <a:srgbClr val="111827"/>
                          </a:solidFill>
                        </a:rPr>
                        <a:t>Forte</a:t>
                      </a:r>
                    </a:p>
                  </a:txBody>
                  <a:tcPr>
                    <a:solidFill>
                      <a:srgbClr val="F3F4F6"/>
                    </a:solidFill>
                  </a:tcPr>
                </a:tc>
                <a:tc>
                  <a:txBody>
                    <a:bodyPr/>
                    <a:lstStyle/>
                    <a:p>
                      <a:r>
                        <a:rPr sz="900">
                          <a:solidFill>
                            <a:srgbClr val="111827"/>
                          </a:solidFill>
                        </a:rPr>
                        <a:t>Fort</a:t>
                      </a:r>
                    </a:p>
                  </a:txBody>
                  <a:tcPr>
                    <a:solidFill>
                      <a:srgbClr val="F3F4F6"/>
                    </a:solidFill>
                  </a:tcPr>
                </a:tc>
                <a:tc>
                  <a:txBody>
                    <a:bodyPr/>
                    <a:lstStyle/>
                    <a:p>
                      <a:r>
                        <a:rPr sz="900">
                          <a:solidFill>
                            <a:srgbClr val="111827"/>
                          </a:solidFill>
                        </a:rPr>
                        <a:t>6 volontaires identifiés (FICTIF) : sessions planifiées dès le 09/11, protocole de 30 min sur la note de comité. Secours : protocole asynchrone (vidéo + formulaire de 10 min), CGP du réseau, alumni ECE en gestion d'actifs.</a:t>
                      </a:r>
                    </a:p>
                  </a:txBody>
                  <a:tcPr>
                    <a:solidFill>
                      <a:srgbClr val="F3F4F6"/>
                    </a:solidFill>
                  </a:tcPr>
                </a:tc>
                <a:tc>
                  <a:txBody>
                    <a:bodyPr/>
                    <a:lstStyle/>
                    <a:p>
                      <a:r>
                        <a:rPr sz="900">
                          <a:solidFill>
                            <a:srgbClr val="111827"/>
                          </a:solidFill>
                        </a:rPr>
                        <a:t>Moins de 3 sessions confirmées au 06/11</a:t>
                      </a:r>
                    </a:p>
                  </a:txBody>
                  <a:tcPr>
                    <a:solidFill>
                      <a:srgbClr val="F3F4F6"/>
                    </a:solidFill>
                  </a:tcPr>
                </a:tc>
              </a:tr>
              <a:tr h="457200">
                <a:tc>
                  <a:txBody>
                    <a:bodyPr/>
                    <a:lstStyle/>
                    <a:p>
                      <a:r>
                        <a:rPr sz="900">
                          <a:solidFill>
                            <a:srgbClr val="111827"/>
                          </a:solidFill>
                        </a:rPr>
                        <a:t>R2</a:t>
                      </a:r>
                    </a:p>
                  </a:txBody>
                  <a:tcPr>
                    <a:solidFill>
                      <a:srgbClr val="FFFFFF"/>
                    </a:solidFill>
                  </a:tcPr>
                </a:tc>
                <a:tc>
                  <a:txBody>
                    <a:bodyPr/>
                    <a:lstStyle/>
                    <a:p>
                      <a:r>
                        <a:rPr sz="900">
                          <a:solidFill>
                            <a:srgbClr val="111827"/>
                          </a:solidFill>
                        </a:rPr>
                        <a:t>Technique</a:t>
                      </a:r>
                    </a:p>
                  </a:txBody>
                  <a:tcPr>
                    <a:solidFill>
                      <a:srgbClr val="FFFFFF"/>
                    </a:solidFill>
                  </a:tcPr>
                </a:tc>
                <a:tc>
                  <a:txBody>
                    <a:bodyPr/>
                    <a:lstStyle/>
                    <a:p>
                      <a:r>
                        <a:rPr sz="900">
                          <a:solidFill>
                            <a:srgbClr val="111827"/>
                          </a:solidFill>
                        </a:rPr>
                        <a:t>En réel, les fausses alertes dépassent 1,5 par an (backtest : 1,26, sur des épisodes déjà vus)</a:t>
                      </a:r>
                    </a:p>
                  </a:txBody>
                  <a:tcPr>
                    <a:solidFill>
                      <a:srgbClr val="FFFFFF"/>
                    </a:solidFill>
                  </a:tcPr>
                </a:tc>
                <a:tc>
                  <a:txBody>
                    <a:bodyPr/>
                    <a:lstStyle/>
                    <a:p>
                      <a:r>
                        <a:rPr sz="900">
                          <a:solidFill>
                            <a:srgbClr val="111827"/>
                          </a:solidFill>
                        </a:rPr>
                        <a:t>Moyenne</a:t>
                      </a:r>
                    </a:p>
                  </a:txBody>
                  <a:tcPr>
                    <a:solidFill>
                      <a:srgbClr val="FFFFFF"/>
                    </a:solidFill>
                  </a:tcPr>
                </a:tc>
                <a:tc>
                  <a:txBody>
                    <a:bodyPr/>
                    <a:lstStyle/>
                    <a:p>
                      <a:r>
                        <a:rPr sz="900">
                          <a:solidFill>
                            <a:srgbClr val="111827"/>
                          </a:solidFill>
                        </a:rPr>
                        <a:t>Fort</a:t>
                      </a:r>
                    </a:p>
                  </a:txBody>
                  <a:tcPr>
                    <a:solidFill>
                      <a:srgbClr val="FFFFFF"/>
                    </a:solidFill>
                  </a:tcPr>
                </a:tc>
                <a:tc>
                  <a:txBody>
                    <a:bodyPr/>
                    <a:lstStyle/>
                    <a:p>
                      <a:r>
                        <a:rPr sz="900">
                          <a:solidFill>
                            <a:srgbClr val="111827"/>
                          </a:solidFill>
                        </a:rPr>
                        <a:t>Aucun réglage après coup (règle pré-enregistrée). Challengers publiés en live à côté du modèle. Communication honnête : « environ une fausse alerte par an ». Plan B pré-enregistré : revenir au détecteur v1 (0,17 fausse alerte/an, plus lent).</a:t>
                      </a:r>
                    </a:p>
                  </a:txBody>
                  <a:tcPr>
                    <a:solidFill>
                      <a:srgbClr val="FFFFFF"/>
                    </a:solidFill>
                  </a:tcPr>
                </a:tc>
                <a:tc>
                  <a:txBody>
                    <a:bodyPr/>
                    <a:lstStyle/>
                    <a:p>
                      <a:r>
                        <a:rPr sz="900">
                          <a:solidFill>
                            <a:srgbClr val="111827"/>
                          </a:solidFill>
                        </a:rPr>
                        <a:t>2 fausses alertes dans le track record live</a:t>
                      </a:r>
                    </a:p>
                  </a:txBody>
                  <a:tcPr>
                    <a:solidFill>
                      <a:srgbClr val="FFFFFF"/>
                    </a:solidFill>
                  </a:tcPr>
                </a:tc>
              </a:tr>
              <a:tr h="457200">
                <a:tc>
                  <a:txBody>
                    <a:bodyPr/>
                    <a:lstStyle/>
                    <a:p>
                      <a:r>
                        <a:rPr sz="900">
                          <a:solidFill>
                            <a:srgbClr val="111827"/>
                          </a:solidFill>
                        </a:rPr>
                        <a:t>R3</a:t>
                      </a:r>
                    </a:p>
                  </a:txBody>
                  <a:tcPr>
                    <a:solidFill>
                      <a:srgbClr val="F3F4F6"/>
                    </a:solidFill>
                  </a:tcPr>
                </a:tc>
                <a:tc>
                  <a:txBody>
                    <a:bodyPr/>
                    <a:lstStyle/>
                    <a:p>
                      <a:r>
                        <a:rPr sz="900">
                          <a:solidFill>
                            <a:srgbClr val="111827"/>
                          </a:solidFill>
                        </a:rPr>
                        <a:t>Organisationnel</a:t>
                      </a:r>
                    </a:p>
                  </a:txBody>
                  <a:tcPr>
                    <a:solidFill>
                      <a:srgbClr val="F3F4F6"/>
                    </a:solidFill>
                  </a:tcPr>
                </a:tc>
                <a:tc>
                  <a:txBody>
                    <a:bodyPr/>
                    <a:lstStyle/>
                    <a:p>
                      <a:r>
                        <a:rPr sz="900">
                          <a:solidFill>
                            <a:srgbClr val="111827"/>
                          </a:solidFill>
                        </a:rPr>
                        <a:t>Appropriation du code : code écrit en grande partie avec un assistant IA et porté par 2 contributeurs ; les 5 membres doivent pouvoir le défendre</a:t>
                      </a:r>
                    </a:p>
                  </a:txBody>
                  <a:tcPr>
                    <a:solidFill>
                      <a:srgbClr val="F3F4F6"/>
                    </a:solidFill>
                  </a:tcPr>
                </a:tc>
                <a:tc>
                  <a:txBody>
                    <a:bodyPr/>
                    <a:lstStyle/>
                    <a:p>
                      <a:r>
                        <a:rPr sz="900">
                          <a:solidFill>
                            <a:srgbClr val="111827"/>
                          </a:solidFill>
                        </a:rPr>
                        <a:t>Forte</a:t>
                      </a:r>
                    </a:p>
                  </a:txBody>
                  <a:tcPr>
                    <a:solidFill>
                      <a:srgbClr val="F3F4F6"/>
                    </a:solidFill>
                  </a:tcPr>
                </a:tc>
                <a:tc>
                  <a:txBody>
                    <a:bodyPr/>
                    <a:lstStyle/>
                    <a:p>
                      <a:r>
                        <a:rPr sz="900">
                          <a:solidFill>
                            <a:srgbClr val="111827"/>
                          </a:solidFill>
                        </a:rPr>
                        <a:t>Fort</a:t>
                      </a:r>
                    </a:p>
                  </a:txBody>
                  <a:tcPr>
                    <a:solidFill>
                      <a:srgbClr val="F3F4F6"/>
                    </a:solidFill>
                  </a:tcPr>
                </a:tc>
                <a:tc>
                  <a:txBody>
                    <a:bodyPr/>
                    <a:lstStyle/>
                    <a:p>
                      <a:r>
                        <a:rPr sz="900">
                          <a:solidFill>
                            <a:srgbClr val="111827"/>
                          </a:solidFill>
                        </a:rPr>
                        <a:t>Un module « propriétaire » par membre, présenté aux autres en 15 min. Revue de code obligatoire. Répétition de questions techniques avant chaque soutenance. La documentation docs/ sert de support.</a:t>
                      </a:r>
                    </a:p>
                  </a:txBody>
                  <a:tcPr>
                    <a:solidFill>
                      <a:srgbClr val="F3F4F6"/>
                    </a:solidFill>
                  </a:tcPr>
                </a:tc>
                <a:tc>
                  <a:txBody>
                    <a:bodyPr/>
                    <a:lstStyle/>
                    <a:p>
                      <a:r>
                        <a:rPr sz="900">
                          <a:solidFill>
                            <a:srgbClr val="111827"/>
                          </a:solidFill>
                        </a:rPr>
                        <a:t>Un membre ne sait pas expliquer son module en répétition</a:t>
                      </a:r>
                    </a:p>
                  </a:txBody>
                  <a:tcPr>
                    <a:solidFill>
                      <a:srgbClr val="F3F4F6"/>
                    </a:solidFill>
                  </a:tcPr>
                </a:tc>
              </a:tr>
              <a:tr h="457200">
                <a:tc>
                  <a:txBody>
                    <a:bodyPr/>
                    <a:lstStyle/>
                    <a:p>
                      <a:r>
                        <a:rPr sz="900">
                          <a:solidFill>
                            <a:srgbClr val="111827"/>
                          </a:solidFill>
                        </a:rPr>
                        <a:t>R4</a:t>
                      </a:r>
                    </a:p>
                  </a:txBody>
                  <a:tcPr>
                    <a:solidFill>
                      <a:srgbClr val="FFFFFF"/>
                    </a:solidFill>
                  </a:tcPr>
                </a:tc>
                <a:tc>
                  <a:txBody>
                    <a:bodyPr/>
                    <a:lstStyle/>
                    <a:p>
                      <a:r>
                        <a:rPr sz="900">
                          <a:solidFill>
                            <a:srgbClr val="111827"/>
                          </a:solidFill>
                        </a:rPr>
                        <a:t>Technique</a:t>
                      </a:r>
                    </a:p>
                  </a:txBody>
                  <a:tcPr>
                    <a:solidFill>
                      <a:srgbClr val="FFFFFF"/>
                    </a:solidFill>
                  </a:tcPr>
                </a:tc>
                <a:tc>
                  <a:txBody>
                    <a:bodyPr/>
                    <a:lstStyle/>
                    <a:p>
                      <a:r>
                        <a:rPr sz="900">
                          <a:solidFill>
                            <a:srgbClr val="111827"/>
                          </a:solidFill>
                        </a:rPr>
                        <a:t>Le régime Ralentissement reste au niveau du hasard face à la référence CFNAI (0,492)</a:t>
                      </a:r>
                    </a:p>
                  </a:txBody>
                  <a:tcPr>
                    <a:solidFill>
                      <a:srgbClr val="FFFFFF"/>
                    </a:solidFill>
                  </a:tcPr>
                </a:tc>
                <a:tc>
                  <a:txBody>
                    <a:bodyPr/>
                    <a:lstStyle/>
                    <a:p>
                      <a:r>
                        <a:rPr sz="900">
                          <a:solidFill>
                            <a:srgbClr val="111827"/>
                          </a:solidFill>
                        </a:rPr>
                        <a:t>Forte</a:t>
                      </a:r>
                    </a:p>
                  </a:txBody>
                  <a:tcPr>
                    <a:solidFill>
                      <a:srgbClr val="FFFFFF"/>
                    </a:solidFill>
                  </a:tcPr>
                </a:tc>
                <a:tc>
                  <a:txBody>
                    <a:bodyPr/>
                    <a:lstStyle/>
                    <a:p>
                      <a:r>
                        <a:rPr sz="900">
                          <a:solidFill>
                            <a:srgbClr val="111827"/>
                          </a:solidFill>
                        </a:rPr>
                        <a:t>Moyen</a:t>
                      </a:r>
                    </a:p>
                  </a:txBody>
                  <a:tcPr>
                    <a:solidFill>
                      <a:srgbClr val="FFFFFF"/>
                    </a:solidFill>
                  </a:tcPr>
                </a:tc>
                <a:tc>
                  <a:txBody>
                    <a:bodyPr/>
                    <a:lstStyle/>
                    <a:p>
                      <a:r>
                        <a:rPr sz="900">
                          <a:solidFill>
                            <a:srgbClr val="111827"/>
                          </a:solidFill>
                        </a:rPr>
                        <a:t>Nouvelle tentative pré-enregistrée (v2.4). Si elle échoue : afficher le score de croissance (0,620) plutôt que le régime, et marquer Ralentissement comme expérimental dans la note.</a:t>
                      </a:r>
                    </a:p>
                  </a:txBody>
                  <a:tcPr>
                    <a:solidFill>
                      <a:srgbClr val="FFFFFF"/>
                    </a:solidFill>
                  </a:tcPr>
                </a:tc>
                <a:tc>
                  <a:txBody>
                    <a:bodyPr/>
                    <a:lstStyle/>
                    <a:p>
                      <a:r>
                        <a:rPr sz="900">
                          <a:solidFill>
                            <a:srgbClr val="111827"/>
                          </a:solidFill>
                        </a:rPr>
                        <a:t>Échec de la v2.4 au 13/11</a:t>
                      </a:r>
                    </a:p>
                  </a:txBody>
                  <a:tcPr>
                    <a:solidFill>
                      <a:srgbClr val="FFFFFF"/>
                    </a:solidFill>
                  </a:tcPr>
                </a:tc>
              </a:tr>
              <a:tr h="457200">
                <a:tc>
                  <a:txBody>
                    <a:bodyPr/>
                    <a:lstStyle/>
                    <a:p>
                      <a:r>
                        <a:rPr sz="900">
                          <a:solidFill>
                            <a:srgbClr val="111827"/>
                          </a:solidFill>
                        </a:rPr>
                        <a:t>R5</a:t>
                      </a:r>
                    </a:p>
                  </a:txBody>
                  <a:tcPr>
                    <a:solidFill>
                      <a:srgbClr val="F3F4F6"/>
                    </a:solidFill>
                  </a:tcPr>
                </a:tc>
                <a:tc>
                  <a:txBody>
                    <a:bodyPr/>
                    <a:lstStyle/>
                    <a:p>
                      <a:r>
                        <a:rPr sz="900">
                          <a:solidFill>
                            <a:srgbClr val="111827"/>
                          </a:solidFill>
                        </a:rPr>
                        <a:t>Organisationnel</a:t>
                      </a:r>
                    </a:p>
                  </a:txBody>
                  <a:tcPr>
                    <a:solidFill>
                      <a:srgbClr val="F3F4F6"/>
                    </a:solidFill>
                  </a:tcPr>
                </a:tc>
                <a:tc>
                  <a:txBody>
                    <a:bodyPr/>
                    <a:lstStyle/>
                    <a:p>
                      <a:r>
                        <a:rPr sz="900">
                          <a:solidFill>
                            <a:srgbClr val="111827"/>
                          </a:solidFill>
                        </a:rPr>
                        <a:t>Dispersion : des fonctionnalités hors MVP (Apprendre, carte mondiale, 4 zones) consomment le temps des Must restants</a:t>
                      </a:r>
                    </a:p>
                  </a:txBody>
                  <a:tcPr>
                    <a:solidFill>
                      <a:srgbClr val="F3F4F6"/>
                    </a:solidFill>
                  </a:tcPr>
                </a:tc>
                <a:tc>
                  <a:txBody>
                    <a:bodyPr/>
                    <a:lstStyle/>
                    <a:p>
                      <a:r>
                        <a:rPr sz="900">
                          <a:solidFill>
                            <a:srgbClr val="111827"/>
                          </a:solidFill>
                        </a:rPr>
                        <a:t>Forte</a:t>
                      </a:r>
                    </a:p>
                  </a:txBody>
                  <a:tcPr>
                    <a:solidFill>
                      <a:srgbClr val="F3F4F6"/>
                    </a:solidFill>
                  </a:tcPr>
                </a:tc>
                <a:tc>
                  <a:txBody>
                    <a:bodyPr/>
                    <a:lstStyle/>
                    <a:p>
                      <a:r>
                        <a:rPr sz="900">
                          <a:solidFill>
                            <a:srgbClr val="111827"/>
                          </a:solidFill>
                        </a:rPr>
                        <a:t>Moyen</a:t>
                      </a:r>
                    </a:p>
                  </a:txBody>
                  <a:tcPr>
                    <a:solidFill>
                      <a:srgbClr val="F3F4F6"/>
                    </a:solidFill>
                  </a:tcPr>
                </a:tc>
                <a:tc>
                  <a:txBody>
                    <a:bodyPr/>
                    <a:lstStyle/>
                    <a:p>
                      <a:r>
                        <a:rPr sz="900">
                          <a:solidFill>
                            <a:srgbClr val="111827"/>
                          </a:solidFill>
                        </a:rPr>
                        <a:t>Gel des nouvelles fonctionnalités jusqu'aux tests utilisateurs. Chaque tâche Notion porte sa catégorie MoSCoW ; aucune tâche Could tant qu'un Must est ouvert.</a:t>
                      </a:r>
                    </a:p>
                  </a:txBody>
                  <a:tcPr>
                    <a:solidFill>
                      <a:srgbClr val="F3F4F6"/>
                    </a:solidFill>
                  </a:tcPr>
                </a:tc>
                <a:tc>
                  <a:txBody>
                    <a:bodyPr/>
                    <a:lstStyle/>
                    <a:p>
                      <a:r>
                        <a:rPr sz="900">
                          <a:solidFill>
                            <a:srgbClr val="111827"/>
                          </a:solidFill>
                        </a:rPr>
                        <a:t>Une tâche Could démarrée avant le 20/11</a:t>
                      </a:r>
                    </a:p>
                  </a:txBody>
                  <a:tcPr>
                    <a:solidFill>
                      <a:srgbClr val="F3F4F6"/>
                    </a:solidFill>
                  </a:tcPr>
                </a:tc>
              </a:tr>
              <a:tr h="457200">
                <a:tc>
                  <a:txBody>
                    <a:bodyPr/>
                    <a:lstStyle/>
                    <a:p>
                      <a:r>
                        <a:rPr sz="900">
                          <a:solidFill>
                            <a:srgbClr val="111827"/>
                          </a:solidFill>
                        </a:rPr>
                        <a:t>R6</a:t>
                      </a:r>
                    </a:p>
                  </a:txBody>
                  <a:tcPr>
                    <a:solidFill>
                      <a:srgbClr val="FFFFFF"/>
                    </a:solidFill>
                  </a:tcPr>
                </a:tc>
                <a:tc>
                  <a:txBody>
                    <a:bodyPr/>
                    <a:lstStyle/>
                    <a:p>
                      <a:r>
                        <a:rPr sz="900">
                          <a:solidFill>
                            <a:srgbClr val="111827"/>
                          </a:solidFill>
                        </a:rPr>
                        <a:t>Externe</a:t>
                      </a:r>
                    </a:p>
                  </a:txBody>
                  <a:tcPr>
                    <a:solidFill>
                      <a:srgbClr val="FFFFFF"/>
                    </a:solidFill>
                  </a:tcPr>
                </a:tc>
                <a:tc>
                  <a:txBody>
                    <a:bodyPr/>
                    <a:lstStyle/>
                    <a:p>
                      <a:r>
                        <a:rPr sz="900">
                          <a:solidFill>
                            <a:srgbClr val="111827"/>
                          </a:solidFill>
                        </a:rPr>
                        <a:t>Panne de la publication quotidienne ou d'une source (FRED, Tiingo, Bitcoin)</a:t>
                      </a:r>
                    </a:p>
                  </a:txBody>
                  <a:tcPr>
                    <a:solidFill>
                      <a:srgbClr val="FFFFFF"/>
                    </a:solidFill>
                  </a:tcPr>
                </a:tc>
                <a:tc>
                  <a:txBody>
                    <a:bodyPr/>
                    <a:lstStyle/>
                    <a:p>
                      <a:r>
                        <a:rPr sz="900">
                          <a:solidFill>
                            <a:srgbClr val="111827"/>
                          </a:solidFill>
                        </a:rPr>
                        <a:t>Moyenne</a:t>
                      </a:r>
                    </a:p>
                  </a:txBody>
                  <a:tcPr>
                    <a:solidFill>
                      <a:srgbClr val="FFFFFF"/>
                    </a:solidFill>
                  </a:tcPr>
                </a:tc>
                <a:tc>
                  <a:txBody>
                    <a:bodyPr/>
                    <a:lstStyle/>
                    <a:p>
                      <a:r>
                        <a:rPr sz="900">
                          <a:solidFill>
                            <a:srgbClr val="111827"/>
                          </a:solidFill>
                        </a:rPr>
                        <a:t>Moyen</a:t>
                      </a:r>
                    </a:p>
                  </a:txBody>
                  <a:tcPr>
                    <a:solidFill>
                      <a:srgbClr val="FFFFFF"/>
                    </a:solidFill>
                  </a:tcPr>
                </a:tc>
                <a:tc>
                  <a:txBody>
                    <a:bodyPr/>
                    <a:lstStyle/>
                    <a:p>
                      <a:r>
                        <a:rPr sz="900">
                          <a:solidFill>
                            <a:srgbClr val="111827"/>
                          </a:solidFill>
                        </a:rPr>
                        <a:t>Contrôle de santé automatique (workflow health), jour manquant signalé, secours Tiingo pour FRED, journal des publications. Un jour manqué est montré, jamais rattrapé en douce.</a:t>
                      </a:r>
                    </a:p>
                  </a:txBody>
                  <a:tcPr>
                    <a:solidFill>
                      <a:srgbClr val="FFFFFF"/>
                    </a:solidFill>
                  </a:tcPr>
                </a:tc>
                <a:tc>
                  <a:txBody>
                    <a:bodyPr/>
                    <a:lstStyle/>
                    <a:p>
                      <a:r>
                        <a:rPr sz="900">
                          <a:solidFill>
                            <a:srgbClr val="111827"/>
                          </a:solidFill>
                        </a:rPr>
                        <a:t>Publication en échec 2 jours de suite</a:t>
                      </a:r>
                    </a:p>
                  </a:txBody>
                  <a:tcPr>
                    <a:solidFill>
                      <a:srgbClr val="FFFFFF"/>
                    </a:solidFill>
                  </a:tcPr>
                </a:tc>
              </a:tr>
              <a:tr h="457200">
                <a:tc>
                  <a:txBody>
                    <a:bodyPr/>
                    <a:lstStyle/>
                    <a:p>
                      <a:r>
                        <a:rPr sz="900">
                          <a:solidFill>
                            <a:srgbClr val="111827"/>
                          </a:solidFill>
                        </a:rPr>
                        <a:t>R7</a:t>
                      </a:r>
                    </a:p>
                  </a:txBody>
                  <a:tcPr>
                    <a:solidFill>
                      <a:srgbClr val="F3F4F6"/>
                    </a:solidFill>
                  </a:tcPr>
                </a:tc>
                <a:tc>
                  <a:txBody>
                    <a:bodyPr/>
                    <a:lstStyle/>
                    <a:p>
                      <a:r>
                        <a:rPr sz="900">
                          <a:solidFill>
                            <a:srgbClr val="111827"/>
                          </a:solidFill>
                        </a:rPr>
                        <a:t>Légal</a:t>
                      </a:r>
                    </a:p>
                  </a:txBody>
                  <a:tcPr>
                    <a:solidFill>
                      <a:srgbClr val="F3F4F6"/>
                    </a:solidFill>
                  </a:tcPr>
                </a:tc>
                <a:tc>
                  <a:txBody>
                    <a:bodyPr/>
                    <a:lstStyle/>
                    <a:p>
                      <a:r>
                        <a:rPr sz="900">
                          <a:solidFill>
                            <a:srgbClr val="111827"/>
                          </a:solidFill>
                        </a:rPr>
                        <a:t>Les scénarios sur le portefeuille du client glissent vers du conseil personnalisé</a:t>
                      </a:r>
                    </a:p>
                  </a:txBody>
                  <a:tcPr>
                    <a:solidFill>
                      <a:srgbClr val="F3F4F6"/>
                    </a:solidFill>
                  </a:tcPr>
                </a:tc>
                <a:tc>
                  <a:txBody>
                    <a:bodyPr/>
                    <a:lstStyle/>
                    <a:p>
                      <a:r>
                        <a:rPr sz="900">
                          <a:solidFill>
                            <a:srgbClr val="111827"/>
                          </a:solidFill>
                        </a:rPr>
                        <a:t>Moyenne</a:t>
                      </a:r>
                    </a:p>
                  </a:txBody>
                  <a:tcPr>
                    <a:solidFill>
                      <a:srgbClr val="F3F4F6"/>
                    </a:solidFill>
                  </a:tcPr>
                </a:tc>
                <a:tc>
                  <a:txBody>
                    <a:bodyPr/>
                    <a:lstStyle/>
                    <a:p>
                      <a:r>
                        <a:rPr sz="900">
                          <a:solidFill>
                            <a:srgbClr val="111827"/>
                          </a:solidFill>
                        </a:rPr>
                        <a:t>Fort</a:t>
                      </a:r>
                    </a:p>
                  </a:txBody>
                  <a:tcPr>
                    <a:solidFill>
                      <a:srgbClr val="F3F4F6"/>
                    </a:solidFill>
                  </a:tcPr>
                </a:tc>
                <a:tc>
                  <a:txBody>
                    <a:bodyPr/>
                    <a:lstStyle/>
                    <a:p>
                      <a:r>
                        <a:rPr sz="900">
                          <a:solidFill>
                            <a:srgbClr val="111827"/>
                          </a:solidFill>
                        </a:rPr>
                        <a:t>Impact chiffré seulement, aucune recommandation d'ajustement ; CSV lu en mémoire, jamais conservé ; avertissement sur chaque sortie ; relecture des formulations par le Garant du besoin.</a:t>
                      </a:r>
                    </a:p>
                  </a:txBody>
                  <a:tcPr>
                    <a:solidFill>
                      <a:srgbClr val="F3F4F6"/>
                    </a:solidFill>
                  </a:tcPr>
                </a:tc>
                <a:tc>
                  <a:txBody>
                    <a:bodyPr/>
                    <a:lstStyle/>
                    <a:p>
                      <a:r>
                        <a:rPr sz="900">
                          <a:solidFill>
                            <a:srgbClr val="111827"/>
                          </a:solidFill>
                        </a:rPr>
                        <a:t>Une formulation « réduisez / vendez » en relecture</a:t>
                      </a:r>
                    </a:p>
                  </a:txBody>
                  <a:tcPr>
                    <a:solidFill>
                      <a:srgbClr val="F3F4F6"/>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Annexe — Critères de succès : objectif et résultat</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23</a:t>
            </a:r>
          </a:p>
        </p:txBody>
      </p:sp>
      <p:graphicFrame>
        <p:nvGraphicFramePr>
          <p:cNvPr id="7" name="Table 6"/>
          <p:cNvGraphicFramePr>
            <a:graphicFrameLocks noGrp="1"/>
          </p:cNvGraphicFramePr>
          <p:nvPr/>
        </p:nvGraphicFramePr>
        <p:xfrm>
          <a:off x="320040" y="1143000"/>
          <a:ext cx="11521440" cy="5029200"/>
        </p:xfrm>
        <a:graphic>
          <a:graphicData uri="http://schemas.openxmlformats.org/drawingml/2006/table">
            <a:tbl>
              <a:tblPr firstRow="1" bandRow="1">
                <a:tableStyleId>{5C22544A-7EE6-4342-B048-85BDC9FD1C3A}</a:tableStyleId>
              </a:tblPr>
              <a:tblGrid>
                <a:gridCol w="4206240"/>
                <a:gridCol w="3108960"/>
                <a:gridCol w="4206240"/>
              </a:tblGrid>
              <a:tr h="457200">
                <a:tc>
                  <a:txBody>
                    <a:bodyPr/>
                    <a:lstStyle/>
                    <a:p>
                      <a:r>
                        <a:rPr sz="1300" b="1">
                          <a:solidFill>
                            <a:srgbClr val="FFFFFF"/>
                          </a:solidFill>
                        </a:rPr>
                        <a:t>Critère</a:t>
                      </a:r>
                    </a:p>
                  </a:txBody>
                  <a:tcPr>
                    <a:solidFill>
                      <a:srgbClr val="1F3A5F"/>
                    </a:solidFill>
                  </a:tcPr>
                </a:tc>
                <a:tc>
                  <a:txBody>
                    <a:bodyPr/>
                    <a:lstStyle/>
                    <a:p>
                      <a:r>
                        <a:rPr sz="1300" b="1">
                          <a:solidFill>
                            <a:srgbClr val="FFFFFF"/>
                          </a:solidFill>
                        </a:rPr>
                        <a:t>Objectif (J1)</a:t>
                      </a:r>
                    </a:p>
                  </a:txBody>
                  <a:tcPr>
                    <a:solidFill>
                      <a:srgbClr val="1F3A5F"/>
                    </a:solidFill>
                  </a:tcPr>
                </a:tc>
                <a:tc>
                  <a:txBody>
                    <a:bodyPr/>
                    <a:lstStyle/>
                    <a:p>
                      <a:r>
                        <a:rPr sz="1300" b="1">
                          <a:solidFill>
                            <a:srgbClr val="FFFFFF"/>
                          </a:solidFill>
                        </a:rPr>
                        <a:t>Résultat au 21/10</a:t>
                      </a:r>
                    </a:p>
                  </a:txBody>
                  <a:tcPr>
                    <a:solidFill>
                      <a:srgbClr val="1F3A5F"/>
                    </a:solidFill>
                  </a:tcPr>
                </a:tc>
              </a:tr>
              <a:tr h="457200">
                <a:tc>
                  <a:txBody>
                    <a:bodyPr/>
                    <a:lstStyle/>
                    <a:p>
                      <a:r>
                        <a:rPr sz="1200">
                          <a:solidFill>
                            <a:srgbClr val="111827"/>
                          </a:solidFill>
                        </a:rPr>
                        <a:t>Latence médiane de détection</a:t>
                      </a:r>
                    </a:p>
                  </a:txBody>
                  <a:tcPr>
                    <a:solidFill>
                      <a:srgbClr val="F3F4F6"/>
                    </a:solidFill>
                  </a:tcPr>
                </a:tc>
                <a:tc>
                  <a:txBody>
                    <a:bodyPr/>
                    <a:lstStyle/>
                    <a:p>
                      <a:r>
                        <a:rPr sz="1200">
                          <a:solidFill>
                            <a:srgbClr val="111827"/>
                          </a:solidFill>
                        </a:rPr>
                        <a:t>≤ 5 jours</a:t>
                      </a:r>
                    </a:p>
                  </a:txBody>
                  <a:tcPr>
                    <a:solidFill>
                      <a:srgbClr val="F3F4F6"/>
                    </a:solidFill>
                  </a:tcPr>
                </a:tc>
                <a:tc>
                  <a:txBody>
                    <a:bodyPr/>
                    <a:lstStyle/>
                    <a:p>
                      <a:r>
                        <a:rPr sz="1200">
                          <a:solidFill>
                            <a:srgbClr val="111827"/>
                          </a:solidFill>
                        </a:rPr>
                        <a:t>−3 j (backtest réel 2009-2026)</a:t>
                      </a:r>
                    </a:p>
                  </a:txBody>
                  <a:tcPr>
                    <a:solidFill>
                      <a:srgbClr val="F3F4F6"/>
                    </a:solidFill>
                  </a:tcPr>
                </a:tc>
              </a:tr>
              <a:tr h="457200">
                <a:tc>
                  <a:txBody>
                    <a:bodyPr/>
                    <a:lstStyle/>
                    <a:p>
                      <a:r>
                        <a:rPr sz="1200">
                          <a:solidFill>
                            <a:srgbClr val="111827"/>
                          </a:solidFill>
                        </a:rPr>
                        <a:t>Fausses alertes « stress »</a:t>
                      </a:r>
                    </a:p>
                  </a:txBody>
                  <a:tcPr>
                    <a:solidFill>
                      <a:srgbClr val="FFFFFF"/>
                    </a:solidFill>
                  </a:tcPr>
                </a:tc>
                <a:tc>
                  <a:txBody>
                    <a:bodyPr/>
                    <a:lstStyle/>
                    <a:p>
                      <a:r>
                        <a:rPr sz="1200">
                          <a:solidFill>
                            <a:srgbClr val="111827"/>
                          </a:solidFill>
                        </a:rPr>
                        <a:t>≤ 1,5 / an</a:t>
                      </a:r>
                    </a:p>
                  </a:txBody>
                  <a:tcPr>
                    <a:solidFill>
                      <a:srgbClr val="FFFFFF"/>
                    </a:solidFill>
                  </a:tcPr>
                </a:tc>
                <a:tc>
                  <a:txBody>
                    <a:bodyPr/>
                    <a:lstStyle/>
                    <a:p>
                      <a:r>
                        <a:rPr sz="1200">
                          <a:solidFill>
                            <a:srgbClr val="111827"/>
                          </a:solidFill>
                        </a:rPr>
                        <a:t>1,26 / an ; 4,9 % des jours calmes</a:t>
                      </a:r>
                    </a:p>
                  </a:txBody>
                  <a:tcPr>
                    <a:solidFill>
                      <a:srgbClr val="FFFFFF"/>
                    </a:solidFill>
                  </a:tcPr>
                </a:tc>
              </a:tr>
              <a:tr h="457200">
                <a:tc>
                  <a:txBody>
                    <a:bodyPr/>
                    <a:lstStyle/>
                    <a:p>
                      <a:r>
                        <a:rPr sz="1200">
                          <a:solidFill>
                            <a:srgbClr val="111827"/>
                          </a:solidFill>
                        </a:rPr>
                        <a:t>Épisodes réels détectés</a:t>
                      </a:r>
                    </a:p>
                  </a:txBody>
                  <a:tcPr>
                    <a:solidFill>
                      <a:srgbClr val="F3F4F6"/>
                    </a:solidFill>
                  </a:tcPr>
                </a:tc>
                <a:tc>
                  <a:txBody>
                    <a:bodyPr/>
                    <a:lstStyle/>
                    <a:p>
                      <a:r>
                        <a:rPr sz="1200">
                          <a:solidFill>
                            <a:srgbClr val="111827"/>
                          </a:solidFill>
                        </a:rPr>
                        <a:t>—</a:t>
                      </a:r>
                    </a:p>
                  </a:txBody>
                  <a:tcPr>
                    <a:solidFill>
                      <a:srgbClr val="F3F4F6"/>
                    </a:solidFill>
                  </a:tcPr>
                </a:tc>
                <a:tc>
                  <a:txBody>
                    <a:bodyPr/>
                    <a:lstStyle/>
                    <a:p>
                      <a:r>
                        <a:rPr sz="1200">
                          <a:solidFill>
                            <a:srgbClr val="111827"/>
                          </a:solidFill>
                        </a:rPr>
                        <a:t>11 / 11 (v1 : 5 / 11)</a:t>
                      </a:r>
                    </a:p>
                  </a:txBody>
                  <a:tcPr>
                    <a:solidFill>
                      <a:srgbClr val="F3F4F6"/>
                    </a:solidFill>
                  </a:tcPr>
                </a:tc>
              </a:tr>
              <a:tr h="457200">
                <a:tc>
                  <a:txBody>
                    <a:bodyPr/>
                    <a:lstStyle/>
                    <a:p>
                      <a:r>
                        <a:rPr sz="1200">
                          <a:solidFill>
                            <a:srgbClr val="111827"/>
                          </a:solidFill>
                        </a:rPr>
                        <a:t>Stabilité des régimes</a:t>
                      </a:r>
                    </a:p>
                  </a:txBody>
                  <a:tcPr>
                    <a:solidFill>
                      <a:srgbClr val="FFFFFF"/>
                    </a:solidFill>
                  </a:tcPr>
                </a:tc>
                <a:tc>
                  <a:txBody>
                    <a:bodyPr/>
                    <a:lstStyle/>
                    <a:p>
                      <a:r>
                        <a:rPr sz="1200">
                          <a:solidFill>
                            <a:srgbClr val="111827"/>
                          </a:solidFill>
                        </a:rPr>
                        <a:t>Régimes persistants</a:t>
                      </a:r>
                    </a:p>
                  </a:txBody>
                  <a:tcPr>
                    <a:solidFill>
                      <a:srgbClr val="FFFFFF"/>
                    </a:solidFill>
                  </a:tcPr>
                </a:tc>
                <a:tc>
                  <a:txBody>
                    <a:bodyPr/>
                    <a:lstStyle/>
                    <a:p>
                      <a:r>
                        <a:rPr sz="1200">
                          <a:solidFill>
                            <a:srgbClr val="111827"/>
                          </a:solidFill>
                        </a:rPr>
                        <a:t>5,6 changements / an</a:t>
                      </a:r>
                    </a:p>
                  </a:txBody>
                  <a:tcPr>
                    <a:solidFill>
                      <a:srgbClr val="FFFFFF"/>
                    </a:solidFill>
                  </a:tcPr>
                </a:tc>
              </a:tr>
              <a:tr h="457200">
                <a:tc>
                  <a:txBody>
                    <a:bodyPr/>
                    <a:lstStyle/>
                    <a:p>
                      <a:r>
                        <a:rPr sz="1200">
                          <a:solidFill>
                            <a:srgbClr val="111827"/>
                          </a:solidFill>
                        </a:rPr>
                        <a:t>Calibration (Brier, ECE)</a:t>
                      </a:r>
                    </a:p>
                  </a:txBody>
                  <a:tcPr>
                    <a:solidFill>
                      <a:srgbClr val="F3F4F6"/>
                    </a:solidFill>
                  </a:tcPr>
                </a:tc>
                <a:tc>
                  <a:txBody>
                    <a:bodyPr/>
                    <a:lstStyle/>
                    <a:p>
                      <a:r>
                        <a:rPr sz="1200">
                          <a:solidFill>
                            <a:srgbClr val="111827"/>
                          </a:solidFill>
                        </a:rPr>
                        <a:t>&lt; score brut</a:t>
                      </a:r>
                    </a:p>
                  </a:txBody>
                  <a:tcPr>
                    <a:solidFill>
                      <a:srgbClr val="F3F4F6"/>
                    </a:solidFill>
                  </a:tcPr>
                </a:tc>
                <a:tc>
                  <a:txBody>
                    <a:bodyPr/>
                    <a:lstStyle/>
                    <a:p>
                      <a:r>
                        <a:rPr sz="1200">
                          <a:solidFill>
                            <a:srgbClr val="111827"/>
                          </a:solidFill>
                        </a:rPr>
                        <a:t>Brier 0,100 → 0,091 ; ECE 0,083 → 0,042</a:t>
                      </a:r>
                    </a:p>
                  </a:txBody>
                  <a:tcPr>
                    <a:solidFill>
                      <a:srgbClr val="F3F4F6"/>
                    </a:solidFill>
                  </a:tcPr>
                </a:tc>
              </a:tr>
              <a:tr h="457200">
                <a:tc>
                  <a:txBody>
                    <a:bodyPr/>
                    <a:lstStyle/>
                    <a:p>
                      <a:r>
                        <a:rPr sz="1200">
                          <a:solidFill>
                            <a:srgbClr val="111827"/>
                          </a:solidFill>
                        </a:rPr>
                        <a:t>Ralentissement vs référence CFNAI</a:t>
                      </a:r>
                    </a:p>
                  </a:txBody>
                  <a:tcPr>
                    <a:solidFill>
                      <a:srgbClr val="FFFFFF"/>
                    </a:solidFill>
                  </a:tcPr>
                </a:tc>
                <a:tc>
                  <a:txBody>
                    <a:bodyPr/>
                    <a:lstStyle/>
                    <a:p>
                      <a:r>
                        <a:rPr sz="1200">
                          <a:solidFill>
                            <a:srgbClr val="111827"/>
                          </a:solidFill>
                        </a:rPr>
                        <a:t>&gt; hasard (0,5)</a:t>
                      </a:r>
                    </a:p>
                  </a:txBody>
                  <a:tcPr>
                    <a:solidFill>
                      <a:srgbClr val="FFFFFF"/>
                    </a:solidFill>
                  </a:tcPr>
                </a:tc>
                <a:tc>
                  <a:txBody>
                    <a:bodyPr/>
                    <a:lstStyle/>
                    <a:p>
                      <a:r>
                        <a:rPr sz="1200">
                          <a:solidFill>
                            <a:srgbClr val="111827"/>
                          </a:solidFill>
                        </a:rPr>
                        <a:t>0,492 : non atteint</a:t>
                      </a:r>
                    </a:p>
                  </a:txBody>
                  <a:tcPr>
                    <a:solidFill>
                      <a:srgbClr val="FFFFFF"/>
                    </a:solidFill>
                  </a:tcPr>
                </a:tc>
              </a:tr>
              <a:tr h="457200">
                <a:tc>
                  <a:txBody>
                    <a:bodyPr/>
                    <a:lstStyle/>
                    <a:p>
                      <a:r>
                        <a:rPr sz="1200">
                          <a:solidFill>
                            <a:srgbClr val="111827"/>
                          </a:solidFill>
                        </a:rPr>
                        <a:t>Overlay 60/40 : drawdown max</a:t>
                      </a:r>
                    </a:p>
                  </a:txBody>
                  <a:tcPr>
                    <a:solidFill>
                      <a:srgbClr val="F3F4F6"/>
                    </a:solidFill>
                  </a:tcPr>
                </a:tc>
                <a:tc>
                  <a:txBody>
                    <a:bodyPr/>
                    <a:lstStyle/>
                    <a:p>
                      <a:r>
                        <a:rPr sz="1200">
                          <a:solidFill>
                            <a:srgbClr val="111827"/>
                          </a:solidFill>
                        </a:rPr>
                        <a:t>&lt; buy &amp; hold</a:t>
                      </a:r>
                    </a:p>
                  </a:txBody>
                  <a:tcPr>
                    <a:solidFill>
                      <a:srgbClr val="F3F4F6"/>
                    </a:solidFill>
                  </a:tcPr>
                </a:tc>
                <a:tc>
                  <a:txBody>
                    <a:bodyPr/>
                    <a:lstStyle/>
                    <a:p>
                      <a:r>
                        <a:rPr sz="1200">
                          <a:solidFill>
                            <a:srgbClr val="111827"/>
                          </a:solidFill>
                        </a:rPr>
                        <a:t>Non évalué</a:t>
                      </a:r>
                    </a:p>
                  </a:txBody>
                  <a:tcPr>
                    <a:solidFill>
                      <a:srgbClr val="F3F4F6"/>
                    </a:solidFill>
                  </a:tcPr>
                </a:tc>
              </a:tr>
              <a:tr h="457200">
                <a:tc>
                  <a:txBody>
                    <a:bodyPr/>
                    <a:lstStyle/>
                    <a:p>
                      <a:r>
                        <a:rPr sz="1200">
                          <a:solidFill>
                            <a:srgbClr val="111827"/>
                          </a:solidFill>
                        </a:rPr>
                        <a:t>Gain de latence lié aux news</a:t>
                      </a:r>
                    </a:p>
                  </a:txBody>
                  <a:tcPr>
                    <a:solidFill>
                      <a:srgbClr val="FFFFFF"/>
                    </a:solidFill>
                  </a:tcPr>
                </a:tc>
                <a:tc>
                  <a:txBody>
                    <a:bodyPr/>
                    <a:lstStyle/>
                    <a:p>
                      <a:r>
                        <a:rPr sz="1200">
                          <a:solidFill>
                            <a:srgbClr val="111827"/>
                          </a:solidFill>
                        </a:rPr>
                        <a:t>Mesuré et publié</a:t>
                      </a:r>
                    </a:p>
                  </a:txBody>
                  <a:tcPr>
                    <a:solidFill>
                      <a:srgbClr val="FFFFFF"/>
                    </a:solidFill>
                  </a:tcPr>
                </a:tc>
                <a:tc>
                  <a:txBody>
                    <a:bodyPr/>
                    <a:lstStyle/>
                    <a:p>
                      <a:r>
                        <a:rPr sz="1200">
                          <a:solidFill>
                            <a:srgbClr val="111827"/>
                          </a:solidFill>
                        </a:rPr>
                        <a:t>Non commencé</a:t>
                      </a:r>
                    </a:p>
                  </a:txBody>
                  <a:tcPr>
                    <a:solidFill>
                      <a:srgbClr val="FFFFFF"/>
                    </a:solidFill>
                  </a:tcPr>
                </a:tc>
              </a:tr>
              <a:tr h="457200">
                <a:tc>
                  <a:txBody>
                    <a:bodyPr/>
                    <a:lstStyle/>
                    <a:p>
                      <a:r>
                        <a:rPr sz="1200">
                          <a:solidFill>
                            <a:srgbClr val="111827"/>
                          </a:solidFill>
                        </a:rPr>
                        <a:t>Tests utilisateurs</a:t>
                      </a:r>
                    </a:p>
                  </a:txBody>
                  <a:tcPr>
                    <a:solidFill>
                      <a:srgbClr val="F3F4F6"/>
                    </a:solidFill>
                  </a:tcPr>
                </a:tc>
                <a:tc>
                  <a:txBody>
                    <a:bodyPr/>
                    <a:lstStyle/>
                    <a:p>
                      <a:r>
                        <a:rPr sz="1200">
                          <a:solidFill>
                            <a:srgbClr val="111827"/>
                          </a:solidFill>
                        </a:rPr>
                        <a:t>≥ 3 gérants</a:t>
                      </a:r>
                    </a:p>
                  </a:txBody>
                  <a:tcPr>
                    <a:solidFill>
                      <a:srgbClr val="F3F4F6"/>
                    </a:solidFill>
                  </a:tcPr>
                </a:tc>
                <a:tc>
                  <a:txBody>
                    <a:bodyPr/>
                    <a:lstStyle/>
                    <a:p>
                      <a:r>
                        <a:rPr sz="1200">
                          <a:solidFill>
                            <a:srgbClr val="111827"/>
                          </a:solidFill>
                        </a:rPr>
                        <a:t>0 : prévu du 09 au 20/11</a:t>
                      </a:r>
                    </a:p>
                  </a:txBody>
                  <a:tcPr>
                    <a:solidFill>
                      <a:srgbClr val="F3F4F6"/>
                    </a:solidFill>
                  </a:tcPr>
                </a:tc>
              </a:tr>
              <a:tr h="457200">
                <a:tc>
                  <a:txBody>
                    <a:bodyPr/>
                    <a:lstStyle/>
                    <a:p>
                      <a:r>
                        <a:rPr sz="1200">
                          <a:solidFill>
                            <a:srgbClr val="111827"/>
                          </a:solidFill>
                        </a:rPr>
                        <a:t>Publication live</a:t>
                      </a:r>
                    </a:p>
                  </a:txBody>
                  <a:tcPr>
                    <a:solidFill>
                      <a:srgbClr val="FFFFFF"/>
                    </a:solidFill>
                  </a:tcPr>
                </a:tc>
                <a:tc>
                  <a:txBody>
                    <a:bodyPr/>
                    <a:lstStyle/>
                    <a:p>
                      <a:r>
                        <a:rPr sz="1200">
                          <a:solidFill>
                            <a:srgbClr val="111827"/>
                          </a:solidFill>
                        </a:rPr>
                        <a:t>Chaque jour ouvré</a:t>
                      </a:r>
                    </a:p>
                  </a:txBody>
                  <a:tcPr>
                    <a:solidFill>
                      <a:srgbClr val="FFFFFF"/>
                    </a:solidFill>
                  </a:tcPr>
                </a:tc>
                <a:tc>
                  <a:txBody>
                    <a:bodyPr/>
                    <a:lstStyle/>
                    <a:p>
                      <a:r>
                        <a:rPr sz="1200">
                          <a:solidFill>
                            <a:srgbClr val="111827"/>
                          </a:solidFill>
                        </a:rPr>
                        <a:t>14 jours depuis le 01/10, 13 ancrés</a:t>
                      </a:r>
                    </a:p>
                  </a:txBody>
                  <a:tcPr>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Annexe — Budget et besoins SI</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24</a:t>
            </a:r>
          </a:p>
        </p:txBody>
      </p:sp>
      <p:graphicFrame>
        <p:nvGraphicFramePr>
          <p:cNvPr id="7" name="Table 6"/>
          <p:cNvGraphicFramePr>
            <a:graphicFrameLocks noGrp="1"/>
          </p:cNvGraphicFramePr>
          <p:nvPr/>
        </p:nvGraphicFramePr>
        <p:xfrm>
          <a:off x="320040" y="1143000"/>
          <a:ext cx="11521440" cy="3200400"/>
        </p:xfrm>
        <a:graphic>
          <a:graphicData uri="http://schemas.openxmlformats.org/drawingml/2006/table">
            <a:tbl>
              <a:tblPr firstRow="1" bandRow="1">
                <a:tableStyleId>{5C22544A-7EE6-4342-B048-85BDC9FD1C3A}</a:tableStyleId>
              </a:tblPr>
              <a:tblGrid>
                <a:gridCol w="3474720"/>
                <a:gridCol w="5943600"/>
                <a:gridCol w="2103120"/>
              </a:tblGrid>
              <a:tr h="457200">
                <a:tc>
                  <a:txBody>
                    <a:bodyPr/>
                    <a:lstStyle/>
                    <a:p>
                      <a:r>
                        <a:rPr sz="1500" b="1">
                          <a:solidFill>
                            <a:srgbClr val="FFFFFF"/>
                          </a:solidFill>
                        </a:rPr>
                        <a:t>Poste</a:t>
                      </a:r>
                    </a:p>
                  </a:txBody>
                  <a:tcPr>
                    <a:solidFill>
                      <a:srgbClr val="1F3A5F"/>
                    </a:solidFill>
                  </a:tcPr>
                </a:tc>
                <a:tc>
                  <a:txBody>
                    <a:bodyPr/>
                    <a:lstStyle/>
                    <a:p>
                      <a:r>
                        <a:rPr sz="1500" b="1">
                          <a:solidFill>
                            <a:srgbClr val="FFFFFF"/>
                          </a:solidFill>
                        </a:rPr>
                        <a:t>Détail</a:t>
                      </a:r>
                    </a:p>
                  </a:txBody>
                  <a:tcPr>
                    <a:solidFill>
                      <a:srgbClr val="1F3A5F"/>
                    </a:solidFill>
                  </a:tcPr>
                </a:tc>
                <a:tc>
                  <a:txBody>
                    <a:bodyPr/>
                    <a:lstStyle/>
                    <a:p>
                      <a:r>
                        <a:rPr sz="1500" b="1">
                          <a:solidFill>
                            <a:srgbClr val="FFFFFF"/>
                          </a:solidFill>
                        </a:rPr>
                        <a:t>Coût</a:t>
                      </a:r>
                    </a:p>
                  </a:txBody>
                  <a:tcPr>
                    <a:solidFill>
                      <a:srgbClr val="1F3A5F"/>
                    </a:solidFill>
                  </a:tcPr>
                </a:tc>
              </a:tr>
              <a:tr h="457200">
                <a:tc>
                  <a:txBody>
                    <a:bodyPr/>
                    <a:lstStyle/>
                    <a:p>
                      <a:r>
                        <a:rPr sz="1400">
                          <a:solidFill>
                            <a:srgbClr val="111827"/>
                          </a:solidFill>
                        </a:rPr>
                        <a:t>Matériel</a:t>
                      </a:r>
                    </a:p>
                  </a:txBody>
                  <a:tcPr>
                    <a:solidFill>
                      <a:srgbClr val="F3F4F6"/>
                    </a:solidFill>
                  </a:tcPr>
                </a:tc>
                <a:tc>
                  <a:txBody>
                    <a:bodyPr/>
                    <a:lstStyle/>
                    <a:p>
                      <a:r>
                        <a:rPr sz="1400">
                          <a:solidFill>
                            <a:srgbClr val="111827"/>
                          </a:solidFill>
                        </a:rPr>
                        <a:t>Aucun (projet 100 % logiciel)</a:t>
                      </a:r>
                    </a:p>
                  </a:txBody>
                  <a:tcPr>
                    <a:solidFill>
                      <a:srgbClr val="F3F4F6"/>
                    </a:solidFill>
                  </a:tcPr>
                </a:tc>
                <a:tc>
                  <a:txBody>
                    <a:bodyPr/>
                    <a:lstStyle/>
                    <a:p>
                      <a:r>
                        <a:rPr sz="1400">
                          <a:solidFill>
                            <a:srgbClr val="111827"/>
                          </a:solidFill>
                        </a:rPr>
                        <a:t>0 €</a:t>
                      </a:r>
                    </a:p>
                  </a:txBody>
                  <a:tcPr>
                    <a:solidFill>
                      <a:srgbClr val="F3F4F6"/>
                    </a:solidFill>
                  </a:tcPr>
                </a:tc>
              </a:tr>
              <a:tr h="457200">
                <a:tc>
                  <a:txBody>
                    <a:bodyPr/>
                    <a:lstStyle/>
                    <a:p>
                      <a:r>
                        <a:rPr sz="1400">
                          <a:solidFill>
                            <a:srgbClr val="111827"/>
                          </a:solidFill>
                        </a:rPr>
                        <a:t>Données</a:t>
                      </a:r>
                    </a:p>
                  </a:txBody>
                  <a:tcPr>
                    <a:solidFill>
                      <a:srgbClr val="FFFFFF"/>
                    </a:solidFill>
                  </a:tcPr>
                </a:tc>
                <a:tc>
                  <a:txBody>
                    <a:bodyPr/>
                    <a:lstStyle/>
                    <a:p>
                      <a:r>
                        <a:rPr sz="1400">
                          <a:solidFill>
                            <a:srgbClr val="111827"/>
                          </a:solidFill>
                        </a:rPr>
                        <a:t>FRED/ALFRED, Tiingo (offre gratuite, usage recherche), BoE, OCDE, BIS, BCE</a:t>
                      </a:r>
                    </a:p>
                  </a:txBody>
                  <a:tcPr>
                    <a:solidFill>
                      <a:srgbClr val="FFFFFF"/>
                    </a:solidFill>
                  </a:tcPr>
                </a:tc>
                <a:tc>
                  <a:txBody>
                    <a:bodyPr/>
                    <a:lstStyle/>
                    <a:p>
                      <a:r>
                        <a:rPr sz="1400">
                          <a:solidFill>
                            <a:srgbClr val="111827"/>
                          </a:solidFill>
                        </a:rPr>
                        <a:t>0 €</a:t>
                      </a:r>
                    </a:p>
                  </a:txBody>
                  <a:tcPr>
                    <a:solidFill>
                      <a:srgbClr val="FFFFFF"/>
                    </a:solidFill>
                  </a:tcPr>
                </a:tc>
              </a:tr>
              <a:tr h="457200">
                <a:tc>
                  <a:txBody>
                    <a:bodyPr/>
                    <a:lstStyle/>
                    <a:p>
                      <a:r>
                        <a:rPr sz="1400">
                          <a:solidFill>
                            <a:srgbClr val="111827"/>
                          </a:solidFill>
                        </a:rPr>
                        <a:t>Publication</a:t>
                      </a:r>
                    </a:p>
                  </a:txBody>
                  <a:tcPr>
                    <a:solidFill>
                      <a:srgbClr val="F3F4F6"/>
                    </a:solidFill>
                  </a:tcPr>
                </a:tc>
                <a:tc>
                  <a:txBody>
                    <a:bodyPr/>
                    <a:lstStyle/>
                    <a:p>
                      <a:r>
                        <a:rPr sz="1400">
                          <a:solidFill>
                            <a:srgbClr val="111827"/>
                          </a:solidFill>
                        </a:rPr>
                        <a:t>GitHub Actions, OpenTimestamps</a:t>
                      </a:r>
                    </a:p>
                  </a:txBody>
                  <a:tcPr>
                    <a:solidFill>
                      <a:srgbClr val="F3F4F6"/>
                    </a:solidFill>
                  </a:tcPr>
                </a:tc>
                <a:tc>
                  <a:txBody>
                    <a:bodyPr/>
                    <a:lstStyle/>
                    <a:p>
                      <a:r>
                        <a:rPr sz="1400">
                          <a:solidFill>
                            <a:srgbClr val="111827"/>
                          </a:solidFill>
                        </a:rPr>
                        <a:t>0 €</a:t>
                      </a:r>
                    </a:p>
                  </a:txBody>
                  <a:tcPr>
                    <a:solidFill>
                      <a:srgbClr val="F3F4F6"/>
                    </a:solidFill>
                  </a:tcPr>
                </a:tc>
              </a:tr>
              <a:tr h="457200">
                <a:tc>
                  <a:txBody>
                    <a:bodyPr/>
                    <a:lstStyle/>
                    <a:p>
                      <a:r>
                        <a:rPr sz="1400">
                          <a:solidFill>
                            <a:srgbClr val="111827"/>
                          </a:solidFill>
                        </a:rPr>
                        <a:t>API modèle de langage</a:t>
                      </a:r>
                    </a:p>
                  </a:txBody>
                  <a:tcPr>
                    <a:solidFill>
                      <a:srgbClr val="FFFFFF"/>
                    </a:solidFill>
                  </a:tcPr>
                </a:tc>
                <a:tc>
                  <a:txBody>
                    <a:bodyPr/>
                    <a:lstStyle/>
                    <a:p>
                      <a:r>
                        <a:rPr sz="1400">
                          <a:solidFill>
                            <a:srgbClr val="111827"/>
                          </a:solidFill>
                        </a:rPr>
                        <a:t>Tuteur GAMA et couche actualité, plafond mensuel, cache</a:t>
                      </a:r>
                    </a:p>
                  </a:txBody>
                  <a:tcPr>
                    <a:solidFill>
                      <a:srgbClr val="FFFFFF"/>
                    </a:solidFill>
                  </a:tcPr>
                </a:tc>
                <a:tc>
                  <a:txBody>
                    <a:bodyPr/>
                    <a:lstStyle/>
                    <a:p>
                      <a:r>
                        <a:rPr sz="1400">
                          <a:solidFill>
                            <a:srgbClr val="111827"/>
                          </a:solidFill>
                        </a:rPr>
                        <a:t>≈ 40 €</a:t>
                      </a:r>
                    </a:p>
                  </a:txBody>
                  <a:tcPr>
                    <a:solidFill>
                      <a:srgbClr val="FFFFFF"/>
                    </a:solidFill>
                  </a:tcPr>
                </a:tc>
              </a:tr>
              <a:tr h="457200">
                <a:tc>
                  <a:txBody>
                    <a:bodyPr/>
                    <a:lstStyle/>
                    <a:p>
                      <a:r>
                        <a:rPr sz="1400">
                          <a:solidFill>
                            <a:srgbClr val="111827"/>
                          </a:solidFill>
                        </a:rPr>
                        <a:t>Nom de domaine (vitrine)</a:t>
                      </a:r>
                    </a:p>
                  </a:txBody>
                  <a:tcPr>
                    <a:solidFill>
                      <a:srgbClr val="F3F4F6"/>
                    </a:solidFill>
                  </a:tcPr>
                </a:tc>
                <a:tc>
                  <a:txBody>
                    <a:bodyPr/>
                    <a:lstStyle/>
                    <a:p>
                      <a:r>
                        <a:rPr sz="1400">
                          <a:solidFill>
                            <a:srgbClr val="111827"/>
                          </a:solidFill>
                        </a:rPr>
                        <a:t>Optionnel, Could have</a:t>
                      </a:r>
                    </a:p>
                  </a:txBody>
                  <a:tcPr>
                    <a:solidFill>
                      <a:srgbClr val="F3F4F6"/>
                    </a:solidFill>
                  </a:tcPr>
                </a:tc>
                <a:tc>
                  <a:txBody>
                    <a:bodyPr/>
                    <a:lstStyle/>
                    <a:p>
                      <a:r>
                        <a:rPr sz="1400">
                          <a:solidFill>
                            <a:srgbClr val="111827"/>
                          </a:solidFill>
                        </a:rPr>
                        <a:t>≈ 10 €</a:t>
                      </a:r>
                    </a:p>
                  </a:txBody>
                  <a:tcPr>
                    <a:solidFill>
                      <a:srgbClr val="F3F4F6"/>
                    </a:solidFill>
                  </a:tcPr>
                </a:tc>
              </a:tr>
              <a:tr h="457200">
                <a:tc>
                  <a:txBody>
                    <a:bodyPr/>
                    <a:lstStyle/>
                    <a:p>
                      <a:r>
                        <a:rPr sz="1400" b="1">
                          <a:solidFill>
                            <a:srgbClr val="111827"/>
                          </a:solidFill>
                        </a:rPr>
                        <a:t>Total estimé</a:t>
                      </a:r>
                    </a:p>
                  </a:txBody>
                  <a:tcPr>
                    <a:solidFill>
                      <a:srgbClr val="FFFFFF"/>
                    </a:solidFill>
                  </a:tcPr>
                </a:tc>
                <a:tc>
                  <a:txBody>
                    <a:bodyPr/>
                    <a:lstStyle/>
                    <a:p>
                      <a:r>
                        <a:rPr sz="1400" b="1">
                          <a:solidFill>
                            <a:srgbClr val="111827"/>
                          </a:solidFill>
                        </a:rPr>
                        <a:t>Demande via bon de commande (besoins SI)</a:t>
                      </a:r>
                    </a:p>
                  </a:txBody>
                  <a:tcPr>
                    <a:solidFill>
                      <a:srgbClr val="FFFFFF"/>
                    </a:solidFill>
                  </a:tcPr>
                </a:tc>
                <a:tc>
                  <a:txBody>
                    <a:bodyPr/>
                    <a:lstStyle/>
                    <a:p>
                      <a:r>
                        <a:rPr sz="1400" b="1">
                          <a:solidFill>
                            <a:srgbClr val="111827"/>
                          </a:solidFill>
                        </a:rPr>
                        <a:t>≈ 50 € / 300 €</a:t>
                      </a:r>
                    </a:p>
                  </a:txBody>
                  <a:tcPr>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0424160" cy="685800"/>
          </a:xfrm>
          <a:prstGeom prst="rect">
            <a:avLst/>
          </a:prstGeom>
          <a:noFill/>
        </p:spPr>
        <p:txBody>
          <a:bodyPr wrap="square" anchor="ctr" lIns="45720" rIns="45720">
            <a:spAutoFit/>
          </a:bodyPr>
          <a:lstStyle/>
          <a:p>
            <a:pPr algn="l">
              <a:spcAft>
                <a:spcPts val="600"/>
              </a:spcAft>
            </a:pPr>
            <a:r>
              <a:rPr sz="2600" b="1">
                <a:solidFill>
                  <a:srgbClr val="FFFFFF"/>
                </a:solidFill>
                <a:latin typeface="Calibri"/>
              </a:rPr>
              <a:t>Annexe — État du dépôt de code</a:t>
            </a:r>
          </a:p>
        </p:txBody>
      </p:sp>
      <p:sp>
        <p:nvSpPr>
          <p:cNvPr id="5" name="TextBox 4"/>
          <p:cNvSpPr txBox="1"/>
          <p:nvPr/>
        </p:nvSpPr>
        <p:spPr>
          <a:xfrm>
            <a:off x="411480" y="6473952"/>
            <a:ext cx="8229600" cy="320040"/>
          </a:xfrm>
          <a:prstGeom prst="rect">
            <a:avLst/>
          </a:prstGeom>
          <a:noFill/>
        </p:spPr>
        <p:txBody>
          <a:bodyPr wrap="square" anchor="t" lIns="45720" rIns="45720">
            <a:spAutoFit/>
          </a:bodyPr>
          <a:lstStyle/>
          <a:p>
            <a:pPr algn="l">
              <a:spcAft>
                <a:spcPts val="600"/>
              </a:spcAft>
            </a:pPr>
            <a:r>
              <a:rPr sz="1000" b="0">
                <a:solidFill>
                  <a:srgbClr val="6B7280"/>
                </a:solidFill>
                <a:latin typeface="Calibri"/>
              </a:rPr>
              <a:t>Groupe 1 — #PFE27-P-3549 · Détection de régimes de marché par IA</a:t>
            </a:r>
          </a:p>
        </p:txBody>
      </p:sp>
      <p:sp>
        <p:nvSpPr>
          <p:cNvPr id="6" name="TextBox 5"/>
          <p:cNvSpPr txBox="1"/>
          <p:nvPr/>
        </p:nvSpPr>
        <p:spPr>
          <a:xfrm>
            <a:off x="11155680" y="6473952"/>
            <a:ext cx="822960" cy="320040"/>
          </a:xfrm>
          <a:prstGeom prst="rect">
            <a:avLst/>
          </a:prstGeom>
          <a:noFill/>
        </p:spPr>
        <p:txBody>
          <a:bodyPr wrap="square" anchor="t" lIns="45720" rIns="45720">
            <a:spAutoFit/>
          </a:bodyPr>
          <a:lstStyle/>
          <a:p>
            <a:pPr algn="r">
              <a:spcAft>
                <a:spcPts val="600"/>
              </a:spcAft>
            </a:pPr>
            <a:r>
              <a:rPr sz="1100" b="0">
                <a:solidFill>
                  <a:srgbClr val="6B7280"/>
                </a:solidFill>
                <a:latin typeface="Calibri"/>
              </a:rPr>
              <a:t>25</a:t>
            </a:r>
          </a:p>
        </p:txBody>
      </p:sp>
      <p:sp>
        <p:nvSpPr>
          <p:cNvPr id="7" name="TextBox 6"/>
          <p:cNvSpPr txBox="1"/>
          <p:nvPr/>
        </p:nvSpPr>
        <p:spPr>
          <a:xfrm>
            <a:off x="548640" y="1280160"/>
            <a:ext cx="5760720" cy="4937760"/>
          </a:xfrm>
          <a:prstGeom prst="rect">
            <a:avLst/>
          </a:prstGeom>
          <a:noFill/>
        </p:spPr>
        <p:txBody>
          <a:bodyPr wrap="square" anchor="t" lIns="45720" rIns="45720">
            <a:spAutoFit/>
          </a:bodyPr>
          <a:lstStyle/>
          <a:p>
            <a:pPr algn="l">
              <a:spcAft>
                <a:spcPts val="1200"/>
              </a:spcAft>
            </a:pPr>
            <a:r>
              <a:rPr sz="1500" b="0">
                <a:solidFill>
                  <a:srgbClr val="111827"/>
                </a:solidFill>
                <a:latin typeface="Calibri"/>
              </a:rPr>
              <a:t>• Application Streamlit 7 écrans, API REST FastAPI, ligne de commande</a:t>
            </a:r>
          </a:p>
          <a:p>
            <a:pPr algn="l">
              <a:spcAft>
                <a:spcPts val="1200"/>
              </a:spcAft>
            </a:pPr>
            <a:r>
              <a:rPr sz="1500" b="0">
                <a:solidFill>
                  <a:srgbClr val="111827"/>
                </a:solidFill>
                <a:latin typeface="Calibri"/>
              </a:rPr>
              <a:t>• 5 modèles : k-means, jump model, gradient boosting, onset, combined</a:t>
            </a:r>
          </a:p>
          <a:p>
            <a:pPr algn="l">
              <a:spcAft>
                <a:spcPts val="1200"/>
              </a:spcAft>
            </a:pPr>
            <a:r>
              <a:rPr sz="1500" b="0">
                <a:solidFill>
                  <a:srgbClr val="111827"/>
                </a:solidFill>
                <a:latin typeface="Calibri"/>
              </a:rPr>
              <a:t>• Validation : walk-forward, holdout, calibration, pré-enregistrements (docs/)</a:t>
            </a:r>
          </a:p>
          <a:p>
            <a:pPr algn="l">
              <a:spcAft>
                <a:spcPts val="1200"/>
              </a:spcAft>
            </a:pPr>
            <a:r>
              <a:rPr sz="1500" b="0">
                <a:solidFill>
                  <a:srgbClr val="111827"/>
                </a:solidFill>
                <a:latin typeface="Calibri"/>
              </a:rPr>
              <a:t>• Publication quotidienne : 14 jours US depuis le 01/10 + UK, Japon, émergents</a:t>
            </a:r>
          </a:p>
          <a:p>
            <a:pPr algn="l">
              <a:spcAft>
                <a:spcPts val="1200"/>
              </a:spcAft>
            </a:pPr>
            <a:r>
              <a:rPr sz="1500" b="0">
                <a:solidFill>
                  <a:srgbClr val="111827"/>
                </a:solidFill>
                <a:latin typeface="Calibri"/>
              </a:rPr>
              <a:t>• 29 fichiers de tests (pytest) + ruff, intégration continue</a:t>
            </a:r>
          </a:p>
          <a:p>
            <a:pPr algn="l">
              <a:spcAft>
                <a:spcPts val="1200"/>
              </a:spcAft>
            </a:pPr>
            <a:r>
              <a:rPr sz="1500" b="0">
                <a:solidFill>
                  <a:srgbClr val="111827"/>
                </a:solidFill>
                <a:latin typeface="Calibri"/>
              </a:rPr>
              <a:t>• La soutenance intermédiaire n'exige pas de prototype : à montrer seulement si on le demande</a:t>
            </a:r>
          </a:p>
        </p:txBody>
      </p:sp>
      <p:sp>
        <p:nvSpPr>
          <p:cNvPr id="8" name="Rectangle 7"/>
          <p:cNvSpPr/>
          <p:nvPr/>
        </p:nvSpPr>
        <p:spPr>
          <a:xfrm>
            <a:off x="6583680" y="1280160"/>
            <a:ext cx="5212080" cy="484632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1417320"/>
            <a:ext cx="4937760" cy="4572000"/>
          </a:xfrm>
          <a:prstGeom prst="rect">
            <a:avLst/>
          </a:prstGeom>
          <a:noFill/>
        </p:spPr>
        <p:txBody>
          <a:bodyPr wrap="square" anchor="t" lIns="45720" rIns="45720">
            <a:spAutoFit/>
          </a:bodyPr>
          <a:lstStyle/>
          <a:p>
            <a:pPr algn="l">
              <a:spcAft>
                <a:spcPts val="100"/>
              </a:spcAft>
            </a:pPr>
            <a:r>
              <a:rPr sz="1300" b="0">
                <a:solidFill>
                  <a:srgbClr val="A7F3D0"/>
                </a:solidFill>
                <a:latin typeface="Consolas"/>
              </a:rPr>
              <a:t>PFE_DRAI/</a:t>
            </a:r>
          </a:p>
          <a:p>
            <a:pPr algn="l">
              <a:spcAft>
                <a:spcPts val="100"/>
              </a:spcAft>
            </a:pPr>
            <a:r>
              <a:rPr sz="1300" b="0">
                <a:solidFill>
                  <a:srgbClr val="A7F3D0"/>
                </a:solidFill>
                <a:latin typeface="Consolas"/>
              </a:rPr>
              <a:t>├── app/            # Streamlit</a:t>
            </a:r>
          </a:p>
          <a:p>
            <a:pPr algn="l">
              <a:spcAft>
                <a:spcPts val="100"/>
              </a:spcAft>
            </a:pPr>
            <a:r>
              <a:rPr sz="1300" b="0">
                <a:solidFill>
                  <a:srgbClr val="A7F3D0"/>
                </a:solidFill>
                <a:latin typeface="Consolas"/>
              </a:rPr>
              <a:t>├── api/            # FastAPI</a:t>
            </a:r>
          </a:p>
          <a:p>
            <a:pPr algn="l">
              <a:spcAft>
                <a:spcPts val="100"/>
              </a:spcAft>
            </a:pPr>
            <a:r>
              <a:rPr sz="1300" b="0">
                <a:solidFill>
                  <a:srgbClr val="A7F3D0"/>
                </a:solidFill>
                <a:latin typeface="Consolas"/>
              </a:rPr>
              <a:t>├── config/         # settings, zones</a:t>
            </a:r>
          </a:p>
          <a:p>
            <a:pPr algn="l">
              <a:spcAft>
                <a:spcPts val="100"/>
              </a:spcAft>
            </a:pPr>
            <a:r>
              <a:rPr sz="1300" b="0">
                <a:solidFill>
                  <a:srgbClr val="A7F3D0"/>
                </a:solidFill>
                <a:latin typeface="Consolas"/>
              </a:rPr>
              <a:t>├── docs/           # protocoles, thèse</a:t>
            </a:r>
          </a:p>
          <a:p>
            <a:pPr algn="l">
              <a:spcAft>
                <a:spcPts val="100"/>
              </a:spcAft>
            </a:pPr>
            <a:r>
              <a:rPr sz="1300" b="0">
                <a:solidFill>
                  <a:srgbClr val="A7F3D0"/>
                </a:solidFill>
                <a:latin typeface="Consolas"/>
              </a:rPr>
              <a:t>├── pfe_drai/</a:t>
            </a:r>
          </a:p>
          <a:p>
            <a:pPr algn="l">
              <a:spcAft>
                <a:spcPts val="100"/>
              </a:spcAft>
            </a:pPr>
            <a:r>
              <a:rPr sz="1300" b="0">
                <a:solidFill>
                  <a:srgbClr val="A7F3D0"/>
                </a:solidFill>
                <a:latin typeface="Consolas"/>
              </a:rPr>
              <a:t>│   ├── data/       # FRED, Tiingo…</a:t>
            </a:r>
          </a:p>
          <a:p>
            <a:pPr algn="l">
              <a:spcAft>
                <a:spcPts val="100"/>
              </a:spcAft>
            </a:pPr>
            <a:r>
              <a:rPr sz="1300" b="0">
                <a:solidFill>
                  <a:srgbClr val="A7F3D0"/>
                </a:solidFill>
                <a:latin typeface="Consolas"/>
              </a:rPr>
              <a:t>│   ├── features/   # 3 scores</a:t>
            </a:r>
          </a:p>
          <a:p>
            <a:pPr algn="l">
              <a:spcAft>
                <a:spcPts val="100"/>
              </a:spcAft>
            </a:pPr>
            <a:r>
              <a:rPr sz="1300" b="0">
                <a:solidFill>
                  <a:srgbClr val="A7F3D0"/>
                </a:solidFill>
                <a:latin typeface="Consolas"/>
              </a:rPr>
              <a:t>│   ├── models/     # jump, onset…</a:t>
            </a:r>
          </a:p>
          <a:p>
            <a:pPr algn="l">
              <a:spcAft>
                <a:spcPts val="100"/>
              </a:spcAft>
            </a:pPr>
            <a:r>
              <a:rPr sz="1300" b="0">
                <a:solidFill>
                  <a:srgbClr val="A7F3D0"/>
                </a:solidFill>
                <a:latin typeface="Consolas"/>
              </a:rPr>
              <a:t>│   ├── validation/ # walk-forward</a:t>
            </a:r>
          </a:p>
          <a:p>
            <a:pPr algn="l">
              <a:spcAft>
                <a:spcPts val="100"/>
              </a:spcAft>
            </a:pPr>
            <a:r>
              <a:rPr sz="1300" b="0">
                <a:solidFill>
                  <a:srgbClr val="A7F3D0"/>
                </a:solidFill>
                <a:latin typeface="Consolas"/>
              </a:rPr>
              <a:t>│   └── publish/    # track record</a:t>
            </a:r>
          </a:p>
          <a:p>
            <a:pPr algn="l">
              <a:spcAft>
                <a:spcPts val="100"/>
              </a:spcAft>
            </a:pPr>
            <a:r>
              <a:rPr sz="1300" b="0">
                <a:solidFill>
                  <a:srgbClr val="A7F3D0"/>
                </a:solidFill>
                <a:latin typeface="Consolas"/>
              </a:rPr>
              <a:t>├── track_record/   # JSON + .ots</a:t>
            </a:r>
          </a:p>
          <a:p>
            <a:pPr algn="l">
              <a:spcAft>
                <a:spcPts val="100"/>
              </a:spcAft>
            </a:pPr>
            <a:r>
              <a:rPr sz="1300" b="0">
                <a:solidFill>
                  <a:srgbClr val="A7F3D0"/>
                </a:solidFill>
                <a:latin typeface="Consolas"/>
              </a:rPr>
              <a:t>└── tests/          # pytest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